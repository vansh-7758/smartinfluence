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914400"/>
          </a:xfrm>
          <a:prstGeom prst="rect">
            <a:avLst/>
          </a:prstGeom>
          <a:noFill/>
        </p:spPr>
        <p:txBody>
          <a:bodyPr wrap="square">
            <a:spAutoFit/>
          </a:bodyPr>
          <a:lstStyle/>
          <a:p>
            <a:pPr algn="ctr">
              <a:spcAft>
                <a:spcPts val="500"/>
              </a:spcAft>
              <a:defRPr sz="4600" b="1">
                <a:solidFill>
                  <a:srgbClr val="112244"/>
                </a:solidFill>
                <a:latin typeface="Arial"/>
              </a:defRPr>
            </a:pPr>
            <a:r>
              <a:t>SmartInfluence Platform</a:t>
            </a:r>
          </a:p>
        </p:txBody>
      </p:sp>
      <p:sp>
        <p:nvSpPr>
          <p:cNvPr id="4" name="TextBox 3"/>
          <p:cNvSpPr txBox="1"/>
          <p:nvPr/>
        </p:nvSpPr>
        <p:spPr>
          <a:xfrm>
            <a:off x="1371600" y="2560320"/>
            <a:ext cx="9418320" cy="548640"/>
          </a:xfrm>
          <a:prstGeom prst="rect">
            <a:avLst/>
          </a:prstGeom>
          <a:noFill/>
        </p:spPr>
        <p:txBody>
          <a:bodyPr wrap="square">
            <a:spAutoFit/>
          </a:bodyPr>
          <a:lstStyle/>
          <a:p>
            <a:pPr algn="ctr">
              <a:spcAft>
                <a:spcPts val="500"/>
              </a:spcAft>
              <a:defRPr sz="2200" b="0">
                <a:solidFill>
                  <a:srgbClr val="1F4E79"/>
                </a:solidFill>
                <a:latin typeface="Arial"/>
              </a:defRPr>
            </a:pPr>
            <a:r>
              <a:t>End-to-End Predictive Discovery &amp; Benchmarking Study</a:t>
            </a:r>
          </a:p>
        </p:txBody>
      </p:sp>
      <p:sp>
        <p:nvSpPr>
          <p:cNvPr id="5" name="Rectangle 4"/>
          <p:cNvSpPr/>
          <p:nvPr/>
        </p:nvSpPr>
        <p:spPr>
          <a:xfrm>
            <a:off x="4114800" y="3383280"/>
            <a:ext cx="3931920"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749039"/>
            <a:ext cx="9418320" cy="457200"/>
          </a:xfrm>
          <a:prstGeom prst="rect">
            <a:avLst/>
          </a:prstGeom>
          <a:noFill/>
        </p:spPr>
        <p:txBody>
          <a:bodyPr wrap="square">
            <a:spAutoFit/>
          </a:bodyPr>
          <a:lstStyle/>
          <a:p>
            <a:pPr algn="ctr">
              <a:spcAft>
                <a:spcPts val="500"/>
              </a:spcAft>
              <a:defRPr sz="1300" b="0">
                <a:solidFill>
                  <a:srgbClr val="4A5568"/>
                </a:solidFill>
                <a:latin typeface="Arial"/>
              </a:defRPr>
            </a:pPr>
            <a:r>
              <a:t>Enterprise Influencer Marketing   |   66 ML Experiments   |   18 Research Papers</a:t>
            </a:r>
          </a:p>
        </p:txBody>
      </p:sp>
      <p:sp>
        <p:nvSpPr>
          <p:cNvPr id="7" name="TextBox 6"/>
          <p:cNvSpPr txBox="1"/>
          <p:nvPr/>
        </p:nvSpPr>
        <p:spPr>
          <a:xfrm>
            <a:off x="1371600" y="4389120"/>
            <a:ext cx="9418320" cy="548640"/>
          </a:xfrm>
          <a:prstGeom prst="rect">
            <a:avLst/>
          </a:prstGeom>
          <a:noFill/>
        </p:spPr>
        <p:txBody>
          <a:bodyPr wrap="square">
            <a:spAutoFit/>
          </a:bodyPr>
          <a:lstStyle/>
          <a:p>
            <a:pPr algn="ctr">
              <a:spcAft>
                <a:spcPts val="500"/>
              </a:spcAft>
              <a:defRPr sz="1150" b="0">
                <a:solidFill>
                  <a:srgbClr val="718096"/>
                </a:solidFill>
                <a:latin typeface="Arial"/>
              </a:defRPr>
            </a:pPr>
            <a:r>
              <a:t>A comprehensive review of our predictive matching algorithm, platform features, and extensive benchmarking comparisons with 11 state-of-the-art models.</a:t>
            </a:r>
          </a:p>
        </p:txBody>
      </p:sp>
      <p:sp>
        <p:nvSpPr>
          <p:cNvPr id="8" name="Rectangle 7"/>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Presentation Agenda</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Comprehensive guide to the SmartInfluence platform and our recent benchmarking achievements</a:t>
            </a:r>
          </a:p>
        </p:txBody>
      </p:sp>
      <p:sp>
        <p:nvSpPr>
          <p:cNvPr id="8" name="TextBox 7"/>
          <p:cNvSpPr txBox="1"/>
          <p:nvPr/>
        </p:nvSpPr>
        <p:spPr>
          <a:xfrm>
            <a:off x="731520" y="1828800"/>
            <a:ext cx="5029200" cy="4114800"/>
          </a:xfrm>
          <a:prstGeom prst="rect">
            <a:avLst/>
          </a:prstGeom>
          <a:noFill/>
        </p:spPr>
        <p:txBody>
          <a:bodyPr wrap="square">
            <a:spAutoFit/>
          </a:bodyPr>
          <a:lstStyle/>
          <a:p>
            <a:pPr>
              <a:spcAft>
                <a:spcPts val="1000"/>
              </a:spcAft>
              <a:defRPr sz="1300">
                <a:solidFill>
                  <a:srgbClr val="2A2E35"/>
                </a:solidFill>
                <a:latin typeface="Arial"/>
              </a:defRPr>
            </a:pPr>
            <a:r>
              <a:t>Part 1: The SmartInfluence Platform</a:t>
            </a:r>
          </a:p>
          <a:p>
            <a:pPr>
              <a:spcAft>
                <a:spcPts val="1000"/>
              </a:spcAft>
              <a:defRPr sz="1300">
                <a:solidFill>
                  <a:srgbClr val="2A2E35"/>
                </a:solidFill>
                <a:latin typeface="Arial"/>
              </a:defRPr>
            </a:pPr>
            <a:r>
              <a:t>  1. Core Mission and Industry Problem</a:t>
            </a:r>
          </a:p>
          <a:p>
            <a:pPr>
              <a:spcAft>
                <a:spcPts val="1000"/>
              </a:spcAft>
              <a:defRPr sz="1300">
                <a:solidFill>
                  <a:srgbClr val="2A2E35"/>
                </a:solidFill>
                <a:latin typeface="Arial"/>
              </a:defRPr>
            </a:pPr>
            <a:r>
              <a:t>  2. Platform Functionality (UI &amp; Features)</a:t>
            </a:r>
          </a:p>
          <a:p>
            <a:pPr>
              <a:spcAft>
                <a:spcPts val="1000"/>
              </a:spcAft>
              <a:defRPr sz="1300">
                <a:solidFill>
                  <a:srgbClr val="2A2E35"/>
                </a:solidFill>
                <a:latin typeface="Arial"/>
              </a:defRPr>
            </a:pPr>
            <a:r>
              <a:t>  3. Backend Data Flow &amp; Processing Pipeline</a:t>
            </a:r>
          </a:p>
          <a:p>
            <a:pPr>
              <a:spcAft>
                <a:spcPts val="1000"/>
              </a:spcAft>
              <a:defRPr sz="1300">
                <a:solidFill>
                  <a:srgbClr val="2A2E35"/>
                </a:solidFill>
                <a:latin typeface="Arial"/>
              </a:defRPr>
            </a:pPr>
            <a:r>
              <a:t>  4. Core Feature Engineering Architecture</a:t>
            </a:r>
          </a:p>
          <a:p>
            <a:pPr>
              <a:spcAft>
                <a:spcPts val="1000"/>
              </a:spcAft>
              <a:defRPr sz="1300">
                <a:solidFill>
                  <a:srgbClr val="2A2E35"/>
                </a:solidFill>
                <a:latin typeface="Arial"/>
              </a:defRPr>
            </a:pPr>
            <a:r>
              <a:t>  5. The Production XGBoost Sales Model</a:t>
            </a:r>
          </a:p>
          <a:p>
            <a:pPr>
              <a:spcAft>
                <a:spcPts val="1000"/>
              </a:spcAft>
              <a:defRPr sz="1300">
                <a:solidFill>
                  <a:srgbClr val="2A2E35"/>
                </a:solidFill>
                <a:latin typeface="Arial"/>
              </a:defRPr>
            </a:pPr>
            <a:r>
              <a:t>  6. Custom Multi-Criteria Rank Scoring</a:t>
            </a:r>
          </a:p>
          <a:p>
            <a:pPr>
              <a:spcAft>
                <a:spcPts val="1000"/>
              </a:spcAft>
              <a:defRPr sz="1300">
                <a:solidFill>
                  <a:srgbClr val="2A2E35"/>
                </a:solidFill>
                <a:latin typeface="Arial"/>
              </a:defRPr>
            </a:pPr>
            <a:r>
              <a:t>  7. Roster Selection &amp; High Engagement Alternatives</a:t>
            </a:r>
          </a:p>
        </p:txBody>
      </p:sp>
      <p:sp>
        <p:nvSpPr>
          <p:cNvPr id="9" name="TextBox 8"/>
          <p:cNvSpPr txBox="1"/>
          <p:nvPr/>
        </p:nvSpPr>
        <p:spPr>
          <a:xfrm>
            <a:off x="6217920" y="1828800"/>
            <a:ext cx="5212080" cy="4114800"/>
          </a:xfrm>
          <a:prstGeom prst="rect">
            <a:avLst/>
          </a:prstGeom>
          <a:noFill/>
        </p:spPr>
        <p:txBody>
          <a:bodyPr wrap="square">
            <a:spAutoFit/>
          </a:bodyPr>
          <a:lstStyle/>
          <a:p>
            <a:pPr>
              <a:spcAft>
                <a:spcPts val="1000"/>
              </a:spcAft>
              <a:defRPr sz="1300">
                <a:solidFill>
                  <a:srgbClr val="2A2E35"/>
                </a:solidFill>
                <a:latin typeface="Arial"/>
              </a:defRPr>
            </a:pPr>
            <a:r>
              <a:t>Part 2: Benchmarking &amp; Comparisons</a:t>
            </a:r>
          </a:p>
          <a:p>
            <a:pPr>
              <a:spcAft>
                <a:spcPts val="1000"/>
              </a:spcAft>
              <a:defRPr sz="1300">
                <a:solidFill>
                  <a:srgbClr val="2A2E35"/>
                </a:solidFill>
                <a:latin typeface="Arial"/>
              </a:defRPr>
            </a:pPr>
            <a:r>
              <a:t>  8. Rationale for Extensive Benchmarking</a:t>
            </a:r>
          </a:p>
          <a:p>
            <a:pPr>
              <a:spcAft>
                <a:spcPts val="1000"/>
              </a:spcAft>
              <a:defRPr sz="1300">
                <a:solidFill>
                  <a:srgbClr val="2A2E35"/>
                </a:solidFill>
                <a:latin typeface="Arial"/>
              </a:defRPr>
            </a:pPr>
            <a:r>
              <a:t>  9. Benchmarking Methodology &amp; the 11 Evaluated Models</a:t>
            </a:r>
          </a:p>
          <a:p>
            <a:pPr>
              <a:spcAft>
                <a:spcPts val="1000"/>
              </a:spcAft>
              <a:defRPr sz="1300">
                <a:solidFill>
                  <a:srgbClr val="2A2E35"/>
                </a:solidFill>
                <a:latin typeface="Arial"/>
              </a:defRPr>
            </a:pPr>
            <a:r>
              <a:t>  10. Trial Target Variable Configurations</a:t>
            </a:r>
          </a:p>
          <a:p>
            <a:pPr>
              <a:spcAft>
                <a:spcPts val="1000"/>
              </a:spcAft>
              <a:defRPr sz="1300">
                <a:solidFill>
                  <a:srgbClr val="2A2E35"/>
                </a:solidFill>
                <a:latin typeface="Arial"/>
              </a:defRPr>
            </a:pPr>
            <a:r>
              <a:t>  11. Overall Comparative Results &amp; Heatmaps</a:t>
            </a:r>
          </a:p>
          <a:p>
            <a:pPr>
              <a:spcAft>
                <a:spcPts val="1000"/>
              </a:spcAft>
              <a:defRPr sz="1300">
                <a:solidFill>
                  <a:srgbClr val="2A2E35"/>
                </a:solidFill>
                <a:latin typeface="Arial"/>
              </a:defRPr>
            </a:pPr>
            <a:r>
              <a:t>  12. Deep-Dive: Our Models vs Research Paper Models</a:t>
            </a:r>
          </a:p>
          <a:p>
            <a:pPr>
              <a:spcAft>
                <a:spcPts val="1000"/>
              </a:spcAft>
              <a:defRPr sz="1300">
                <a:solidFill>
                  <a:srgbClr val="2A2E35"/>
                </a:solidFill>
                <a:latin typeface="Arial"/>
              </a:defRPr>
            </a:pPr>
            <a:r>
              <a:t>  13. Benchmarking Against 18 Published Papers</a:t>
            </a:r>
          </a:p>
          <a:p>
            <a:pPr>
              <a:spcAft>
                <a:spcPts val="1000"/>
              </a:spcAft>
              <a:defRPr sz="1300">
                <a:solidFill>
                  <a:srgbClr val="2A2E35"/>
                </a:solidFill>
                <a:latin typeface="Arial"/>
              </a:defRPr>
            </a:pPr>
            <a:r>
              <a:t>  14. Generalization Analysis (Overfitting &amp; CV)</a:t>
            </a:r>
          </a:p>
          <a:p>
            <a:pPr>
              <a:spcAft>
                <a:spcPts val="1000"/>
              </a:spcAft>
              <a:defRPr sz="1300">
                <a:solidFill>
                  <a:srgbClr val="2A2E35"/>
                </a:solidFill>
                <a:latin typeface="Arial"/>
              </a:defRPr>
            </a:pPr>
            <a:r>
              <a:t>  15. Key Insights, Limitations, &amp; Future Technical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0152" cy="914400"/>
          </a:xfrm>
          <a:prstGeom prst="rect">
            <a:avLst/>
          </a:prstGeom>
          <a:noFill/>
        </p:spPr>
        <p:txBody>
          <a:bodyPr wrap="square">
            <a:spAutoFit/>
          </a:bodyPr>
          <a:lstStyle/>
          <a:p>
            <a:pPr algn="ctr">
              <a:spcAft>
                <a:spcPts val="500"/>
              </a:spcAft>
              <a:defRPr sz="4000" b="1">
                <a:solidFill>
                  <a:srgbClr val="112244"/>
                </a:solidFill>
                <a:latin typeface="Arial"/>
              </a:defRPr>
            </a:pPr>
            <a:r>
              <a:t>Part 1: The SmartInfluence Platform</a:t>
            </a:r>
          </a:p>
        </p:txBody>
      </p:sp>
      <p:sp>
        <p:nvSpPr>
          <p:cNvPr id="4" name="Rectangle 3"/>
          <p:cNvSpPr/>
          <p:nvPr/>
        </p:nvSpPr>
        <p:spPr>
          <a:xfrm>
            <a:off x="4114800" y="3474720"/>
            <a:ext cx="3959352" cy="2743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360152" cy="731520"/>
          </a:xfrm>
          <a:prstGeom prst="rect">
            <a:avLst/>
          </a:prstGeom>
          <a:noFill/>
        </p:spPr>
        <p:txBody>
          <a:bodyPr wrap="square">
            <a:spAutoFit/>
          </a:bodyPr>
          <a:lstStyle/>
          <a:p>
            <a:pPr algn="ctr">
              <a:spcAft>
                <a:spcPts val="500"/>
              </a:spcAft>
              <a:defRPr sz="1800" b="0">
                <a:solidFill>
                  <a:srgbClr val="1F4E79"/>
                </a:solidFill>
                <a:latin typeface="Arial"/>
              </a:defRPr>
            </a:pPr>
            <a:r>
              <a:t>Core architecture, functionality, and machine learning pipeline of the original application</a:t>
            </a:r>
          </a:p>
        </p:txBody>
      </p:sp>
      <p:sp>
        <p:nvSpPr>
          <p:cNvPr id="6" name="Rectangle 5"/>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Core Mission &amp; Problem Solved</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10515600" cy="731520"/>
          </a:xfrm>
          <a:prstGeom prst="rect">
            <a:avLst/>
          </a:prstGeom>
          <a:noFill/>
        </p:spPr>
        <p:txBody>
          <a:bodyPr wrap="square">
            <a:spAutoFit/>
          </a:bodyPr>
          <a:lstStyle/>
          <a:p>
            <a:pPr algn="l">
              <a:spcAft>
                <a:spcPts val="500"/>
              </a:spcAft>
              <a:defRPr sz="1350" b="0">
                <a:solidFill>
                  <a:srgbClr val="2A2E35"/>
                </a:solidFill>
                <a:latin typeface="Arial"/>
              </a:defRPr>
            </a:pPr>
            <a:r>
              <a:t>Influencer marketing has evolved from a branding exercise into a major performance marketing channel. However, brands consistently struggle to identify influencers who drive genuine commercial conversion rather than superficial impressions. SmartInfluence was built to solve this core business challenge.</a:t>
            </a:r>
          </a:p>
        </p:txBody>
      </p:sp>
      <p:sp>
        <p:nvSpPr>
          <p:cNvPr id="8" name="TextBox 7"/>
          <p:cNvSpPr txBox="1"/>
          <p:nvPr/>
        </p:nvSpPr>
        <p:spPr>
          <a:xfrm>
            <a:off x="731520" y="2468880"/>
            <a:ext cx="5029200" cy="365760"/>
          </a:xfrm>
          <a:prstGeom prst="rect">
            <a:avLst/>
          </a:prstGeom>
          <a:noFill/>
        </p:spPr>
        <p:txBody>
          <a:bodyPr wrap="square">
            <a:spAutoFit/>
          </a:bodyPr>
          <a:lstStyle/>
          <a:p>
            <a:pPr algn="l">
              <a:spcAft>
                <a:spcPts val="500"/>
              </a:spcAft>
              <a:defRPr sz="1500" b="1">
                <a:solidFill>
                  <a:srgbClr val="112244"/>
                </a:solidFill>
                <a:latin typeface="Arial"/>
              </a:defRPr>
            </a:pPr>
            <a:r>
              <a:t>The Industry Challenge:</a:t>
            </a:r>
          </a:p>
        </p:txBody>
      </p:sp>
      <p:sp>
        <p:nvSpPr>
          <p:cNvPr id="9" name="TextBox 8"/>
          <p:cNvSpPr txBox="1"/>
          <p:nvPr/>
        </p:nvSpPr>
        <p:spPr>
          <a:xfrm>
            <a:off x="731520" y="2926080"/>
            <a:ext cx="5029200" cy="2926080"/>
          </a:xfrm>
          <a:prstGeom prst="rect">
            <a:avLst/>
          </a:prstGeom>
          <a:noFill/>
        </p:spPr>
        <p:txBody>
          <a:bodyPr wrap="square">
            <a:spAutoFit/>
          </a:bodyPr>
          <a:lstStyle/>
          <a:p>
            <a:pPr>
              <a:spcAft>
                <a:spcPts val="800"/>
              </a:spcAft>
              <a:defRPr sz="1200">
                <a:solidFill>
                  <a:srgbClr val="2A2E35"/>
                </a:solidFill>
                <a:latin typeface="Arial"/>
              </a:defRPr>
            </a:pPr>
            <a:r>
              <a:t>Follower inflation and fake engagement cost brands billions annually.</a:t>
            </a:r>
          </a:p>
          <a:p>
            <a:pPr>
              <a:spcAft>
                <a:spcPts val="800"/>
              </a:spcAft>
              <a:defRPr sz="1200">
                <a:solidFill>
                  <a:srgbClr val="2A2E35"/>
                </a:solidFill>
                <a:latin typeface="Arial"/>
              </a:defRPr>
            </a:pPr>
            <a:r>
              <a:t>High engagement rate does not necessarily translate to campaign sales or coupon opt-ins.</a:t>
            </a:r>
          </a:p>
          <a:p>
            <a:pPr>
              <a:spcAft>
                <a:spcPts val="800"/>
              </a:spcAft>
              <a:defRPr sz="1200">
                <a:solidFill>
                  <a:srgbClr val="2A2E35"/>
                </a:solidFill>
                <a:latin typeface="Arial"/>
              </a:defRPr>
            </a:pPr>
            <a:r>
              <a:t>Traditional influencer selection relies on manual reviews, gut feelings, or basic keyword searches.</a:t>
            </a:r>
          </a:p>
          <a:p>
            <a:pPr>
              <a:spcAft>
                <a:spcPts val="800"/>
              </a:spcAft>
              <a:defRPr sz="1200">
                <a:solidFill>
                  <a:srgbClr val="2A2E35"/>
                </a:solidFill>
                <a:latin typeface="Arial"/>
              </a:defRPr>
            </a:pPr>
            <a:r>
              <a:t>Difficulty predicting absolute ROI before signing contracts or launching campaigns.</a:t>
            </a:r>
          </a:p>
        </p:txBody>
      </p:sp>
      <p:sp>
        <p:nvSpPr>
          <p:cNvPr id="10" name="TextBox 9"/>
          <p:cNvSpPr txBox="1"/>
          <p:nvPr/>
        </p:nvSpPr>
        <p:spPr>
          <a:xfrm>
            <a:off x="6217920" y="2468880"/>
            <a:ext cx="5029200" cy="365760"/>
          </a:xfrm>
          <a:prstGeom prst="rect">
            <a:avLst/>
          </a:prstGeom>
          <a:noFill/>
        </p:spPr>
        <p:txBody>
          <a:bodyPr wrap="square">
            <a:spAutoFit/>
          </a:bodyPr>
          <a:lstStyle/>
          <a:p>
            <a:pPr algn="l">
              <a:spcAft>
                <a:spcPts val="500"/>
              </a:spcAft>
              <a:defRPr sz="1500" b="1">
                <a:solidFill>
                  <a:srgbClr val="112244"/>
                </a:solidFill>
                <a:latin typeface="Arial"/>
              </a:defRPr>
            </a:pPr>
            <a:r>
              <a:t>The SmartInfluence Approach:</a:t>
            </a:r>
          </a:p>
        </p:txBody>
      </p:sp>
      <p:sp>
        <p:nvSpPr>
          <p:cNvPr id="11" name="TextBox 10"/>
          <p:cNvSpPr txBox="1"/>
          <p:nvPr/>
        </p:nvSpPr>
        <p:spPr>
          <a:xfrm>
            <a:off x="6217920" y="2926080"/>
            <a:ext cx="5029200" cy="2926080"/>
          </a:xfrm>
          <a:prstGeom prst="rect">
            <a:avLst/>
          </a:prstGeom>
          <a:noFill/>
        </p:spPr>
        <p:txBody>
          <a:bodyPr wrap="square">
            <a:spAutoFit/>
          </a:bodyPr>
          <a:lstStyle/>
          <a:p>
            <a:pPr>
              <a:spcAft>
                <a:spcPts val="800"/>
              </a:spcAft>
              <a:defRPr sz="1200">
                <a:solidFill>
                  <a:srgbClr val="2A2E35"/>
                </a:solidFill>
                <a:latin typeface="Arial"/>
              </a:defRPr>
            </a:pPr>
            <a:r>
              <a:t>Collects historical influencer-brand performance data (over 10,000 records).</a:t>
            </a:r>
          </a:p>
          <a:p>
            <a:pPr>
              <a:spcAft>
                <a:spcPts val="800"/>
              </a:spcAft>
              <a:defRPr sz="1200">
                <a:solidFill>
                  <a:srgbClr val="2A2E35"/>
                </a:solidFill>
                <a:latin typeface="Arial"/>
              </a:defRPr>
            </a:pPr>
            <a:r>
              <a:t>Tries to predict commercial success (Sales Performance Tiers) before campaigns launch.</a:t>
            </a:r>
          </a:p>
          <a:p>
            <a:pPr>
              <a:spcAft>
                <a:spcPts val="800"/>
              </a:spcAft>
              <a:defRPr sz="1200">
                <a:solidFill>
                  <a:srgbClr val="2A2E35"/>
                </a:solidFill>
                <a:latin typeface="Arial"/>
              </a:defRPr>
            </a:pPr>
            <a:r>
              <a:t>Uses advanced machine learning to filter out fraud and score potential sales capacity.</a:t>
            </a:r>
          </a:p>
          <a:p>
            <a:pPr>
              <a:spcAft>
                <a:spcPts val="800"/>
              </a:spcAft>
              <a:defRPr sz="1200">
                <a:solidFill>
                  <a:srgbClr val="2A2E35"/>
                </a:solidFill>
                <a:latin typeface="Arial"/>
              </a:defRPr>
            </a:pPr>
            <a:r>
              <a:t>Combines audience reach, engagement quality, and historical sales patterns into a single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SmartInfluence Core Functionality</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An integrated, predictive matching ecosystem designed for modern brand managers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200" b="0">
                <a:solidFill>
                  <a:srgbClr val="2A2E35"/>
                </a:solidFill>
                <a:latin typeface="Arial"/>
              </a:defRPr>
            </a:pPr>
            <a:r>
              <a:t>SmartInfluence serves as an enterprise decision-support tool. It bridges the gap between raw social media analytics and concrete business performance.</a:t>
            </a:r>
            <a:br/>
            <a:br/>
            <a:r>
              <a:t>The platform acts in three critical stages:</a:t>
            </a:r>
            <a:br/>
            <a:br/>
            <a:r>
              <a:t>1. Discovery &amp; Context Matching:</a:t>
            </a:r>
            <a:br/>
            <a:r>
              <a:t>Filters influencers by niche and uses Natural Language Processing to align a brand's description with historical influencer content and campaign performance.</a:t>
            </a:r>
            <a:br/>
            <a:br/>
            <a:r>
              <a:t>2. ML-Driven Conversion Scoring:</a:t>
            </a:r>
            <a:br/>
            <a:r>
              <a:t>Predicts whether a matching influencer will perform as a High, Mid, or Low Sales driver based on their historical profiles.</a:t>
            </a:r>
            <a:br/>
            <a:br/>
            <a:r>
              <a:t>3. Roster Compiler:</a:t>
            </a:r>
            <a:br/>
            <a:r>
              <a:t>Allows campaign managers to aggregate candidates into lists, estimating aggregate campaign reach and average engagement dynamically.</a:t>
            </a:r>
          </a:p>
        </p:txBody>
      </p:sp>
      <p:sp>
        <p:nvSpPr>
          <p:cNvPr id="9" name="Rounded Rectangle 8"/>
          <p:cNvSpPr/>
          <p:nvPr/>
        </p:nvSpPr>
        <p:spPr>
          <a:xfrm>
            <a:off x="6217920" y="1645920"/>
            <a:ext cx="5029200" cy="1280160"/>
          </a:xfrm>
          <a:prstGeom prst="round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37360"/>
            <a:ext cx="4846320" cy="1097280"/>
          </a:xfrm>
          <a:prstGeom prst="rect">
            <a:avLst/>
          </a:prstGeom>
          <a:noFill/>
        </p:spPr>
        <p:txBody>
          <a:bodyPr wrap="square">
            <a:spAutoFit/>
          </a:bodyPr>
          <a:lstStyle/>
          <a:p>
            <a:pPr algn="l">
              <a:spcAft>
                <a:spcPts val="500"/>
              </a:spcAft>
              <a:defRPr sz="1100" b="0">
                <a:solidFill>
                  <a:srgbClr val="2A2E35"/>
                </a:solidFill>
                <a:latin typeface="Arial"/>
              </a:defRPr>
            </a:pPr>
            <a:r>
              <a:t>Predictive Discovery Tool</a:t>
            </a:r>
            <a:br/>
            <a:r>
              <a:t>Input a brand name, niche, and optional textual campaign context. The tool immediately extracts candidates, processes them through the prediction engine, and returns a prioritized list.</a:t>
            </a:r>
          </a:p>
        </p:txBody>
      </p:sp>
      <p:sp>
        <p:nvSpPr>
          <p:cNvPr id="11" name="Rounded Rectangle 10"/>
          <p:cNvSpPr/>
          <p:nvPr/>
        </p:nvSpPr>
        <p:spPr>
          <a:xfrm>
            <a:off x="6217920" y="3108960"/>
            <a:ext cx="5029200" cy="1280160"/>
          </a:xfrm>
          <a:prstGeom prst="round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200400"/>
            <a:ext cx="4846320" cy="1097280"/>
          </a:xfrm>
          <a:prstGeom prst="rect">
            <a:avLst/>
          </a:prstGeom>
          <a:noFill/>
        </p:spPr>
        <p:txBody>
          <a:bodyPr wrap="square">
            <a:spAutoFit/>
          </a:bodyPr>
          <a:lstStyle/>
          <a:p>
            <a:pPr algn="l">
              <a:spcAft>
                <a:spcPts val="500"/>
              </a:spcAft>
              <a:defRPr sz="1100" b="0">
                <a:solidFill>
                  <a:srgbClr val="2A2E35"/>
                </a:solidFill>
                <a:latin typeface="Arial"/>
              </a:defRPr>
            </a:pPr>
            <a:r>
              <a:t>Campaign Roster Compiler</a:t>
            </a:r>
            <a:br/>
            <a:r>
              <a:t>Shortlist high-potential candidates to compile campaign sheets. Track absolute reach metrics, evaluate average engagement across the roster, and export directly as PDF for marketing team sign-off.</a:t>
            </a:r>
          </a:p>
        </p:txBody>
      </p:sp>
      <p:sp>
        <p:nvSpPr>
          <p:cNvPr id="13" name="Rounded Rectangle 12"/>
          <p:cNvSpPr/>
          <p:nvPr/>
        </p:nvSpPr>
        <p:spPr>
          <a:xfrm>
            <a:off x="6217920" y="4572000"/>
            <a:ext cx="5029200" cy="1280160"/>
          </a:xfrm>
          <a:prstGeom prst="round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663440"/>
            <a:ext cx="4846320" cy="1097280"/>
          </a:xfrm>
          <a:prstGeom prst="rect">
            <a:avLst/>
          </a:prstGeom>
          <a:noFill/>
        </p:spPr>
        <p:txBody>
          <a:bodyPr wrap="square">
            <a:spAutoFit/>
          </a:bodyPr>
          <a:lstStyle/>
          <a:p>
            <a:pPr algn="l">
              <a:spcAft>
                <a:spcPts val="500"/>
              </a:spcAft>
              <a:defRPr sz="1100" b="0">
                <a:solidFill>
                  <a:srgbClr val="2A2E35"/>
                </a:solidFill>
                <a:latin typeface="Arial"/>
              </a:defRPr>
            </a:pPr>
            <a:r>
              <a:t>Interactive Model Analytics</a:t>
            </a:r>
            <a:br/>
            <a:r>
              <a:t>Provides real-time visibility into machine learning internals, including feature importance rankings, class distributions, model confusion matrices, and correlation structures.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User Interface Breakdown</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An intuitive and responsive design tailored for campaign planners</a:t>
            </a:r>
          </a:p>
        </p:txBody>
      </p:sp>
      <p:sp>
        <p:nvSpPr>
          <p:cNvPr id="8" name="TextBox 7"/>
          <p:cNvSpPr txBox="1"/>
          <p:nvPr/>
        </p:nvSpPr>
        <p:spPr>
          <a:xfrm>
            <a:off x="731520" y="1645920"/>
            <a:ext cx="3474720" cy="4114800"/>
          </a:xfrm>
          <a:prstGeom prst="rect">
            <a:avLst/>
          </a:prstGeom>
          <a:noFill/>
        </p:spPr>
        <p:txBody>
          <a:bodyPr wrap="square">
            <a:spAutoFit/>
          </a:bodyPr>
          <a:lstStyle/>
          <a:p>
            <a:pPr algn="l">
              <a:spcAft>
                <a:spcPts val="500"/>
              </a:spcAft>
              <a:defRPr sz="1150" b="0">
                <a:solidFill>
                  <a:srgbClr val="2A2E35"/>
                </a:solidFill>
                <a:latin typeface="Arial"/>
              </a:defRPr>
            </a:pPr>
            <a:r>
              <a:t>Discovery &amp; Search UI:</a:t>
            </a:r>
            <a:br/>
            <a:r>
              <a:t>The search panel allows users to submit a Brand Name, comma-separated Niches, and a descriptive campaign summary. Users can control recommendation thresholds (e.g. limit top N).</a:t>
            </a:r>
            <a:br/>
            <a:br/>
            <a:r>
              <a:t>Shortlisting &amp; Roster:</a:t>
            </a:r>
            <a:br/>
            <a:r>
              <a:t>Each discovered candidate card features an "Add to Roster" control. Shortlisted individuals are saved locally in the browser. A dynamic badge at the top shows roster count in real-time.</a:t>
            </a:r>
            <a:br/>
            <a:br/>
            <a:r>
              <a:t>Roster Metrics Display:</a:t>
            </a:r>
            <a:br/>
            <a:r>
              <a:t>Aggregates total campaign reach and average engagement percentage, providing immediate high-level projections for budget allocation.</a:t>
            </a:r>
          </a:p>
        </p:txBody>
      </p:sp>
      <p:graphicFrame>
        <p:nvGraphicFramePr>
          <p:cNvPr id="9" name="Table 8"/>
          <p:cNvGraphicFramePr>
            <a:graphicFrameLocks noGrp="1"/>
          </p:cNvGraphicFramePr>
          <p:nvPr/>
        </p:nvGraphicFramePr>
        <p:xfrm>
          <a:off x="4389120" y="1645920"/>
          <a:ext cx="7132320" cy="4114800"/>
        </p:xfrm>
        <a:graphic>
          <a:graphicData uri="http://schemas.openxmlformats.org/drawingml/2006/table">
            <a:tbl>
              <a:tblPr firstRow="1" bandRow="1">
                <a:tableStyleId>{5C22544A-7EE6-4342-B048-85BDC9FD1C3A}</a:tableStyleId>
              </a:tblPr>
              <a:tblGrid>
                <a:gridCol w="1783080"/>
                <a:gridCol w="1783080"/>
                <a:gridCol w="1783080"/>
                <a:gridCol w="1783080"/>
              </a:tblGrid>
              <a:tr h="822960">
                <a:tc>
                  <a:txBody>
                    <a:bodyPr/>
                    <a:lstStyle/>
                    <a:p>
                      <a:pPr algn="ctr">
                        <a:defRPr sz="950" b="1">
                          <a:solidFill>
                            <a:srgbClr val="FFFFFF"/>
                          </a:solidFill>
                          <a:latin typeface="Arial"/>
                        </a:defRPr>
                      </a:pPr>
                      <a:r>
                        <a:t>UI Component</a:t>
                      </a:r>
                    </a:p>
                  </a:txBody>
                  <a:tcPr>
                    <a:solidFill>
                      <a:srgbClr val="1F4E79"/>
                    </a:solidFill>
                  </a:tcPr>
                </a:tc>
                <a:tc>
                  <a:txBody>
                    <a:bodyPr/>
                    <a:lstStyle/>
                    <a:p>
                      <a:pPr algn="ctr">
                        <a:defRPr sz="950" b="1">
                          <a:solidFill>
                            <a:srgbClr val="FFFFFF"/>
                          </a:solidFill>
                          <a:latin typeface="Arial"/>
                        </a:defRPr>
                      </a:pPr>
                      <a:r>
                        <a:t>User Actions</a:t>
                      </a:r>
                    </a:p>
                  </a:txBody>
                  <a:tcPr>
                    <a:solidFill>
                      <a:srgbClr val="1F4E79"/>
                    </a:solidFill>
                  </a:tcPr>
                </a:tc>
                <a:tc>
                  <a:txBody>
                    <a:bodyPr/>
                    <a:lstStyle/>
                    <a:p>
                      <a:pPr algn="ctr">
                        <a:defRPr sz="950" b="1">
                          <a:solidFill>
                            <a:srgbClr val="FFFFFF"/>
                          </a:solidFill>
                          <a:latin typeface="Arial"/>
                        </a:defRPr>
                      </a:pPr>
                      <a:r>
                        <a:t>System Response</a:t>
                      </a:r>
                    </a:p>
                  </a:txBody>
                  <a:tcPr>
                    <a:solidFill>
                      <a:srgbClr val="1F4E79"/>
                    </a:solidFill>
                  </a:tcPr>
                </a:tc>
                <a:tc>
                  <a:txBody>
                    <a:bodyPr/>
                    <a:lstStyle/>
                    <a:p>
                      <a:pPr algn="ctr">
                        <a:defRPr sz="950" b="1">
                          <a:solidFill>
                            <a:srgbClr val="FFFFFF"/>
                          </a:solidFill>
                          <a:latin typeface="Arial"/>
                        </a:defRPr>
                      </a:pPr>
                      <a:r>
                        <a:t>Business Value</a:t>
                      </a:r>
                    </a:p>
                  </a:txBody>
                  <a:tcPr>
                    <a:solidFill>
                      <a:srgbClr val="1F4E79"/>
                    </a:solidFill>
                  </a:tcPr>
                </a:tc>
              </a:tr>
              <a:tr h="822960">
                <a:tc>
                  <a:txBody>
                    <a:bodyPr/>
                    <a:lstStyle/>
                    <a:p>
                      <a:pPr algn="ctr">
                        <a:defRPr sz="950">
                          <a:solidFill>
                            <a:srgbClr val="2A2E35"/>
                          </a:solidFill>
                          <a:latin typeface="Arial"/>
                        </a:defRPr>
                      </a:pPr>
                      <a:r>
                        <a:t>Discovery Tool</a:t>
                      </a:r>
                    </a:p>
                  </a:txBody>
                  <a:tcPr>
                    <a:solidFill>
                      <a:srgbClr val="F0F4F8"/>
                    </a:solidFill>
                  </a:tcPr>
                </a:tc>
                <a:tc>
                  <a:txBody>
                    <a:bodyPr/>
                    <a:lstStyle/>
                    <a:p>
                      <a:pPr algn="ctr">
                        <a:defRPr sz="950">
                          <a:solidFill>
                            <a:srgbClr val="2A2E35"/>
                          </a:solidFill>
                          <a:latin typeface="Arial"/>
                        </a:defRPr>
                      </a:pPr>
                      <a:r>
                        <a:t>Submit niches &amp; brand description</a:t>
                      </a:r>
                    </a:p>
                  </a:txBody>
                  <a:tcPr>
                    <a:solidFill>
                      <a:srgbClr val="F0F4F8"/>
                    </a:solidFill>
                  </a:tcPr>
                </a:tc>
                <a:tc>
                  <a:txBody>
                    <a:bodyPr/>
                    <a:lstStyle/>
                    <a:p>
                      <a:pPr algn="ctr">
                        <a:defRPr sz="950">
                          <a:solidFill>
                            <a:srgbClr val="2A2E35"/>
                          </a:solidFill>
                          <a:latin typeface="Arial"/>
                        </a:defRPr>
                      </a:pPr>
                      <a:r>
                        <a:t>Filters niche, aligns text, predicts performance tier</a:t>
                      </a:r>
                    </a:p>
                  </a:txBody>
                  <a:tcPr>
                    <a:solidFill>
                      <a:srgbClr val="F0F4F8"/>
                    </a:solidFill>
                  </a:tcPr>
                </a:tc>
                <a:tc>
                  <a:txBody>
                    <a:bodyPr/>
                    <a:lstStyle/>
                    <a:p>
                      <a:pPr algn="ctr">
                        <a:defRPr sz="950">
                          <a:solidFill>
                            <a:srgbClr val="2A2E35"/>
                          </a:solidFill>
                          <a:latin typeface="Arial"/>
                        </a:defRPr>
                      </a:pPr>
                      <a:r>
                        <a:t>Proactive ROI assessment</a:t>
                      </a:r>
                    </a:p>
                  </a:txBody>
                  <a:tcPr>
                    <a:solidFill>
                      <a:srgbClr val="F0F4F8"/>
                    </a:solidFill>
                  </a:tcPr>
                </a:tc>
              </a:tr>
              <a:tr h="822960">
                <a:tc>
                  <a:txBody>
                    <a:bodyPr/>
                    <a:lstStyle/>
                    <a:p>
                      <a:pPr algn="ctr">
                        <a:defRPr sz="950">
                          <a:solidFill>
                            <a:srgbClr val="2A2E35"/>
                          </a:solidFill>
                          <a:latin typeface="Arial"/>
                        </a:defRPr>
                      </a:pPr>
                      <a:r>
                        <a:t>Candidate Card</a:t>
                      </a:r>
                    </a:p>
                  </a:txBody>
                  <a:tcPr>
                    <a:solidFill>
                      <a:srgbClr val="FFFFFF"/>
                    </a:solidFill>
                  </a:tcPr>
                </a:tc>
                <a:tc>
                  <a:txBody>
                    <a:bodyPr/>
                    <a:lstStyle/>
                    <a:p>
                      <a:pPr algn="ctr">
                        <a:defRPr sz="950">
                          <a:solidFill>
                            <a:srgbClr val="2A2E35"/>
                          </a:solidFill>
                          <a:latin typeface="Arial"/>
                        </a:defRPr>
                      </a:pPr>
                      <a:r>
                        <a:t>Click Add to Roster / Save</a:t>
                      </a:r>
                    </a:p>
                  </a:txBody>
                  <a:tcPr>
                    <a:solidFill>
                      <a:srgbClr val="FFFFFF"/>
                    </a:solidFill>
                  </a:tcPr>
                </a:tc>
                <a:tc>
                  <a:txBody>
                    <a:bodyPr/>
                    <a:lstStyle/>
                    <a:p>
                      <a:pPr algn="ctr">
                        <a:defRPr sz="950">
                          <a:solidFill>
                            <a:srgbClr val="2A2E35"/>
                          </a:solidFill>
                          <a:latin typeface="Arial"/>
                        </a:defRPr>
                      </a:pPr>
                      <a:r>
                        <a:t>Updates roster badge and stores influencer details</a:t>
                      </a:r>
                    </a:p>
                  </a:txBody>
                  <a:tcPr>
                    <a:solidFill>
                      <a:srgbClr val="FFFFFF"/>
                    </a:solidFill>
                  </a:tcPr>
                </a:tc>
                <a:tc>
                  <a:txBody>
                    <a:bodyPr/>
                    <a:lstStyle/>
                    <a:p>
                      <a:pPr algn="ctr">
                        <a:defRPr sz="950">
                          <a:solidFill>
                            <a:srgbClr val="2A2E35"/>
                          </a:solidFill>
                          <a:latin typeface="Arial"/>
                        </a:defRPr>
                      </a:pPr>
                      <a:r>
                        <a:t>Streamlined planning workflow</a:t>
                      </a:r>
                    </a:p>
                  </a:txBody>
                  <a:tcPr>
                    <a:solidFill>
                      <a:srgbClr val="FFFFFF"/>
                    </a:solidFill>
                  </a:tcPr>
                </a:tc>
              </a:tr>
              <a:tr h="822960">
                <a:tc>
                  <a:txBody>
                    <a:bodyPr/>
                    <a:lstStyle/>
                    <a:p>
                      <a:pPr algn="ctr">
                        <a:defRPr sz="950">
                          <a:solidFill>
                            <a:srgbClr val="2A2E35"/>
                          </a:solidFill>
                          <a:latin typeface="Arial"/>
                        </a:defRPr>
                      </a:pPr>
                      <a:r>
                        <a:t>Campaign Roster</a:t>
                      </a:r>
                    </a:p>
                  </a:txBody>
                  <a:tcPr>
                    <a:solidFill>
                      <a:srgbClr val="F0F4F8"/>
                    </a:solidFill>
                  </a:tcPr>
                </a:tc>
                <a:tc>
                  <a:txBody>
                    <a:bodyPr/>
                    <a:lstStyle/>
                    <a:p>
                      <a:pPr algn="ctr">
                        <a:defRPr sz="950">
                          <a:solidFill>
                            <a:srgbClr val="2A2E35"/>
                          </a:solidFill>
                          <a:latin typeface="Arial"/>
                        </a:defRPr>
                      </a:pPr>
                      <a:r>
                        <a:t>Review shortlist, Click Export PDF</a:t>
                      </a:r>
                    </a:p>
                  </a:txBody>
                  <a:tcPr>
                    <a:solidFill>
                      <a:srgbClr val="F0F4F8"/>
                    </a:solidFill>
                  </a:tcPr>
                </a:tc>
                <a:tc>
                  <a:txBody>
                    <a:bodyPr/>
                    <a:lstStyle/>
                    <a:p>
                      <a:pPr algn="ctr">
                        <a:defRPr sz="950">
                          <a:solidFill>
                            <a:srgbClr val="2A2E35"/>
                          </a:solidFill>
                          <a:latin typeface="Arial"/>
                        </a:defRPr>
                      </a:pPr>
                      <a:r>
                        <a:t>Calculates aggregate reach &amp; prints clean PDF report</a:t>
                      </a:r>
                    </a:p>
                  </a:txBody>
                  <a:tcPr>
                    <a:solidFill>
                      <a:srgbClr val="F0F4F8"/>
                    </a:solidFill>
                  </a:tcPr>
                </a:tc>
                <a:tc>
                  <a:txBody>
                    <a:bodyPr/>
                    <a:lstStyle/>
                    <a:p>
                      <a:pPr algn="ctr">
                        <a:defRPr sz="950">
                          <a:solidFill>
                            <a:srgbClr val="2A2E35"/>
                          </a:solidFill>
                          <a:latin typeface="Arial"/>
                        </a:defRPr>
                      </a:pPr>
                      <a:r>
                        <a:t>Ready-to-share client reports</a:t>
                      </a:r>
                    </a:p>
                  </a:txBody>
                  <a:tcPr>
                    <a:solidFill>
                      <a:srgbClr val="F0F4F8"/>
                    </a:solidFill>
                  </a:tcPr>
                </a:tc>
              </a:tr>
              <a:tr h="822960">
                <a:tc>
                  <a:txBody>
                    <a:bodyPr/>
                    <a:lstStyle/>
                    <a:p>
                      <a:pPr algn="ctr">
                        <a:defRPr sz="950">
                          <a:solidFill>
                            <a:srgbClr val="2A2E35"/>
                          </a:solidFill>
                          <a:latin typeface="Arial"/>
                        </a:defRPr>
                      </a:pPr>
                      <a:r>
                        <a:t>Model Analysis</a:t>
                      </a:r>
                    </a:p>
                  </a:txBody>
                  <a:tcPr>
                    <a:solidFill>
                      <a:srgbClr val="FFFFFF"/>
                    </a:solidFill>
                  </a:tcPr>
                </a:tc>
                <a:tc>
                  <a:txBody>
                    <a:bodyPr/>
                    <a:lstStyle/>
                    <a:p>
                      <a:pPr algn="ctr">
                        <a:defRPr sz="950">
                          <a:solidFill>
                            <a:srgbClr val="2A2E35"/>
                          </a:solidFill>
                          <a:latin typeface="Arial"/>
                        </a:defRPr>
                      </a:pPr>
                      <a:r>
                        <a:t>Toggle Tab, Hover on Charts</a:t>
                      </a:r>
                    </a:p>
                  </a:txBody>
                  <a:tcPr>
                    <a:solidFill>
                      <a:srgbClr val="FFFFFF"/>
                    </a:solidFill>
                  </a:tcPr>
                </a:tc>
                <a:tc>
                  <a:txBody>
                    <a:bodyPr/>
                    <a:lstStyle/>
                    <a:p>
                      <a:pPr algn="ctr">
                        <a:defRPr sz="950">
                          <a:solidFill>
                            <a:srgbClr val="2A2E35"/>
                          </a:solidFill>
                          <a:latin typeface="Arial"/>
                        </a:defRPr>
                      </a:pPr>
                      <a:r>
                        <a:t>Visualizes feature importances, correlation heatmaps</a:t>
                      </a:r>
                    </a:p>
                  </a:txBody>
                  <a:tcPr>
                    <a:solidFill>
                      <a:srgbClr val="FFFFFF"/>
                    </a:solidFill>
                  </a:tcPr>
                </a:tc>
                <a:tc>
                  <a:txBody>
                    <a:bodyPr/>
                    <a:lstStyle/>
                    <a:p>
                      <a:pPr algn="ctr">
                        <a:defRPr sz="950">
                          <a:solidFill>
                            <a:srgbClr val="2A2E35"/>
                          </a:solidFill>
                          <a:latin typeface="Arial"/>
                        </a:defRPr>
                      </a:pPr>
                      <a:r>
                        <a:t>Builds transparency and trust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Backend Data Flow &amp; Processing Pipeline</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From a raw user search request to highly curated, model-scored recommendations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SmartInfluence operates a structured FastAPI backend that handles request routing, data processing, and machine learning inferences:</a:t>
            </a:r>
            <a:br/>
            <a:br/>
            <a:r>
              <a:t>1. Niche Filtering:</a:t>
            </a:r>
            <a:br/>
            <a:r>
              <a:t>First-pass filtration narrows the database of 10,132 records to match the user's comma-separated niche query (e.g., fashion, apparel).</a:t>
            </a:r>
            <a:br/>
            <a:br/>
            <a:r>
              <a:t>2. TF-IDF Brand Context Similarity:</a:t>
            </a:r>
            <a:br/>
            <a:r>
              <a:t>If a brand context is provided, the platform converts the description to a numerical vector using a TfidfVectorizer. It runs cosine similarity against all historical brand descriptions, pulling historical profiles of brands in similar industries.</a:t>
            </a:r>
            <a:br/>
            <a:br/>
            <a:r>
              <a:t>3. ML Feature Engineering:</a:t>
            </a:r>
            <a:br/>
            <a:r>
              <a:t>Fills missing data and generates 19 derived features (consistency, quality, ratios) for the selected candidates.</a:t>
            </a:r>
            <a:br/>
            <a:br/>
            <a:r>
              <a:t>4. XGBoost Inference &amp; Custom Scoring:</a:t>
            </a:r>
            <a:br/>
            <a:r>
              <a:t>The candidate features are passed to the trained XGBoost model to score sales class probabilities. Finally, the Custom Rank Score weights all attributes to compile the prioritized recommendation list.</a:t>
            </a:r>
          </a:p>
        </p:txBody>
      </p:sp>
      <p:sp>
        <p:nvSpPr>
          <p:cNvPr id="9" name="Rectangle 8"/>
          <p:cNvSpPr/>
          <p:nvPr/>
        </p:nvSpPr>
        <p:spPr>
          <a:xfrm>
            <a:off x="6217920" y="164592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1. User Query</a:t>
            </a:r>
            <a:br/>
            <a:r>
              <a:t>Niches, Brand, Description</a:t>
            </a:r>
          </a:p>
        </p:txBody>
      </p:sp>
      <p:sp>
        <p:nvSpPr>
          <p:cNvPr id="12" name="Rectangle 11"/>
          <p:cNvSpPr/>
          <p:nvPr/>
        </p:nvSpPr>
        <p:spPr>
          <a:xfrm>
            <a:off x="6217920" y="237744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3774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42316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2. Retrieval</a:t>
            </a:r>
            <a:br/>
            <a:r>
              <a:t>Niche Filters &amp; Similar Brands</a:t>
            </a:r>
          </a:p>
        </p:txBody>
      </p:sp>
      <p:sp>
        <p:nvSpPr>
          <p:cNvPr id="15" name="Rectangle 14"/>
          <p:cNvSpPr/>
          <p:nvPr/>
        </p:nvSpPr>
        <p:spPr>
          <a:xfrm>
            <a:off x="6217920" y="310896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10896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15468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3. Feature Eng.</a:t>
            </a:r>
            <a:br/>
            <a:r>
              <a:t>Compute 34 Engineered Features</a:t>
            </a:r>
          </a:p>
        </p:txBody>
      </p:sp>
      <p:sp>
        <p:nvSpPr>
          <p:cNvPr id="18" name="Rectangle 17"/>
          <p:cNvSpPr/>
          <p:nvPr/>
        </p:nvSpPr>
        <p:spPr>
          <a:xfrm>
            <a:off x="6217920" y="384048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84048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88620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4. ML Model</a:t>
            </a:r>
            <a:br/>
            <a:r>
              <a:t>XGBoost Classification Tier</a:t>
            </a:r>
          </a:p>
        </p:txBody>
      </p:sp>
      <p:sp>
        <p:nvSpPr>
          <p:cNvPr id="21" name="Rectangle 20"/>
          <p:cNvSpPr/>
          <p:nvPr/>
        </p:nvSpPr>
        <p:spPr>
          <a:xfrm>
            <a:off x="6217920" y="457200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57200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61772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5. Rank Score</a:t>
            </a:r>
            <a:br/>
            <a:r>
              <a:t>Combine Tier, Eng%, Growth%</a:t>
            </a:r>
          </a:p>
        </p:txBody>
      </p:sp>
      <p:sp>
        <p:nvSpPr>
          <p:cNvPr id="24" name="Rectangle 23"/>
          <p:cNvSpPr/>
          <p:nvPr/>
        </p:nvSpPr>
        <p:spPr>
          <a:xfrm>
            <a:off x="6217920" y="5303520"/>
            <a:ext cx="5029200" cy="685800"/>
          </a:xfrm>
          <a:prstGeom prst="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530352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5349240"/>
            <a:ext cx="4754880" cy="594360"/>
          </a:xfrm>
          <a:prstGeom prst="rect">
            <a:avLst/>
          </a:prstGeom>
          <a:noFill/>
        </p:spPr>
        <p:txBody>
          <a:bodyPr wrap="square">
            <a:spAutoFit/>
          </a:bodyPr>
          <a:lstStyle/>
          <a:p>
            <a:pPr algn="l">
              <a:spcAft>
                <a:spcPts val="500"/>
              </a:spcAft>
              <a:defRPr sz="1050" b="0">
                <a:solidFill>
                  <a:srgbClr val="2A2E35"/>
                </a:solidFill>
                <a:latin typeface="Arial"/>
              </a:defRPr>
            </a:pPr>
            <a:r>
              <a:t>6. UI Output</a:t>
            </a:r>
            <a:br/>
            <a:r>
              <a:t>High Performers &amp; Hidden Gems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Core Feature Engineering Pipeline</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Transforming raw Instagram stats into robust predictors of commercial success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Standard Instagram metrics (follower counts, likes, comments) are heavily affected by inorganic activity and do not directly map to conversion performance.</a:t>
            </a:r>
            <a:br/>
            <a:br/>
            <a:r>
              <a:t>To overcome this, the SmartInfluence pipeline engineers 19 derived features that capture behavioral traits and engagement depth:</a:t>
            </a:r>
            <a:br/>
            <a:br/>
            <a:r>
              <a:t>Consistency and Momentum:</a:t>
            </a:r>
            <a:br/>
            <a:r>
              <a:t>Measures posting behavior in recent periods (30d vs 90d, 90d vs 180d). Stable activity signals dedicated content creators.</a:t>
            </a:r>
            <a:br/>
            <a:br/>
            <a:r>
              <a:t>Quality Signals:</a:t>
            </a:r>
            <a:br/>
            <a:r>
              <a:t>Virality score computes the comment-to-like ratio, identifying content that drives active conversation rather than passive double-taps. Reach efficiency captures referrals relative to follower base.</a:t>
            </a:r>
            <a:br/>
            <a:br/>
            <a:r>
              <a:t>Scale &amp; Log Transforms:</a:t>
            </a:r>
            <a:br/>
            <a:r>
              <a:t>Applies log transforms (`log1p`) on followers, likes, and engagement to compress heavily skewed distributions, supporting better convergence for linear and neural models.</a:t>
            </a:r>
          </a:p>
        </p:txBody>
      </p:sp>
      <p:graphicFrame>
        <p:nvGraphicFramePr>
          <p:cNvPr id="9" name="Table 8"/>
          <p:cNvGraphicFramePr>
            <a:graphicFrameLocks noGrp="1"/>
          </p:cNvGraphicFramePr>
          <p:nvPr/>
        </p:nvGraphicFramePr>
        <p:xfrm>
          <a:off x="5943600" y="1645920"/>
          <a:ext cx="5486400" cy="4114800"/>
        </p:xfrm>
        <a:graphic>
          <a:graphicData uri="http://schemas.openxmlformats.org/drawingml/2006/table">
            <a:tbl>
              <a:tblPr firstRow="1" bandRow="1">
                <a:tableStyleId>{5C22544A-7EE6-4342-B048-85BDC9FD1C3A}</a:tableStyleId>
              </a:tblPr>
              <a:tblGrid>
                <a:gridCol w="1828800"/>
                <a:gridCol w="1828800"/>
                <a:gridCol w="1828800"/>
              </a:tblGrid>
              <a:tr h="685800">
                <a:tc>
                  <a:txBody>
                    <a:bodyPr/>
                    <a:lstStyle/>
                    <a:p>
                      <a:pPr algn="ctr">
                        <a:defRPr sz="950" b="1">
                          <a:solidFill>
                            <a:srgbClr val="FFFFFF"/>
                          </a:solidFill>
                          <a:latin typeface="Arial"/>
                        </a:defRPr>
                      </a:pPr>
                      <a:r>
                        <a:t>Engineering Category</a:t>
                      </a:r>
                    </a:p>
                  </a:txBody>
                  <a:tcPr>
                    <a:solidFill>
                      <a:srgbClr val="1F4E79"/>
                    </a:solidFill>
                  </a:tcPr>
                </a:tc>
                <a:tc>
                  <a:txBody>
                    <a:bodyPr/>
                    <a:lstStyle/>
                    <a:p>
                      <a:pPr algn="ctr">
                        <a:defRPr sz="950" b="1">
                          <a:solidFill>
                            <a:srgbClr val="FFFFFF"/>
                          </a:solidFill>
                          <a:latin typeface="Arial"/>
                        </a:defRPr>
                      </a:pPr>
                      <a:r>
                        <a:t>Derived Features</a:t>
                      </a:r>
                    </a:p>
                  </a:txBody>
                  <a:tcPr>
                    <a:solidFill>
                      <a:srgbClr val="1F4E79"/>
                    </a:solidFill>
                  </a:tcPr>
                </a:tc>
                <a:tc>
                  <a:txBody>
                    <a:bodyPr/>
                    <a:lstStyle/>
                    <a:p>
                      <a:pPr algn="ctr">
                        <a:defRPr sz="950" b="1">
                          <a:solidFill>
                            <a:srgbClr val="FFFFFF"/>
                          </a:solidFill>
                          <a:latin typeface="Arial"/>
                        </a:defRPr>
                      </a:pPr>
                      <a:r>
                        <a:t>Business Intuition</a:t>
                      </a:r>
                    </a:p>
                  </a:txBody>
                  <a:tcPr>
                    <a:solidFill>
                      <a:srgbClr val="1F4E79"/>
                    </a:solidFill>
                  </a:tcPr>
                </a:tc>
              </a:tr>
              <a:tr h="685800">
                <a:tc>
                  <a:txBody>
                    <a:bodyPr/>
                    <a:lstStyle/>
                    <a:p>
                      <a:pPr algn="ctr">
                        <a:defRPr sz="950">
                          <a:solidFill>
                            <a:srgbClr val="2A2E35"/>
                          </a:solidFill>
                          <a:latin typeface="Arial"/>
                        </a:defRPr>
                      </a:pPr>
                      <a:r>
                        <a:t>Activity Ratios</a:t>
                      </a:r>
                    </a:p>
                  </a:txBody>
                  <a:tcPr>
                    <a:solidFill>
                      <a:srgbClr val="F0F4F8"/>
                    </a:solidFill>
                  </a:tcPr>
                </a:tc>
                <a:tc>
                  <a:txBody>
                    <a:bodyPr/>
                    <a:lstStyle/>
                    <a:p>
                      <a:pPr algn="ctr">
                        <a:defRPr sz="950">
                          <a:solidFill>
                            <a:srgbClr val="2A2E35"/>
                          </a:solidFill>
                          <a:latin typeface="Arial"/>
                        </a:defRPr>
                      </a:pPr>
                      <a:r>
                        <a:t>likes_per_post, clicks_per_post, comments_per_post</a:t>
                      </a:r>
                    </a:p>
                  </a:txBody>
                  <a:tcPr>
                    <a:solidFill>
                      <a:srgbClr val="F0F4F8"/>
                    </a:solidFill>
                  </a:tcPr>
                </a:tc>
                <a:tc>
                  <a:txBody>
                    <a:bodyPr/>
                    <a:lstStyle/>
                    <a:p>
                      <a:pPr algn="ctr">
                        <a:defRPr sz="950">
                          <a:solidFill>
                            <a:srgbClr val="2A2E35"/>
                          </a:solidFill>
                          <a:latin typeface="Arial"/>
                        </a:defRPr>
                      </a:pPr>
                      <a:r>
                        <a:t>Captures average user interaction per piece of content</a:t>
                      </a:r>
                    </a:p>
                  </a:txBody>
                  <a:tcPr>
                    <a:solidFill>
                      <a:srgbClr val="F0F4F8"/>
                    </a:solidFill>
                  </a:tcPr>
                </a:tc>
              </a:tr>
              <a:tr h="685800">
                <a:tc>
                  <a:txBody>
                    <a:bodyPr/>
                    <a:lstStyle/>
                    <a:p>
                      <a:pPr algn="ctr">
                        <a:defRPr sz="950">
                          <a:solidFill>
                            <a:srgbClr val="2A2E35"/>
                          </a:solidFill>
                          <a:latin typeface="Arial"/>
                        </a:defRPr>
                      </a:pPr>
                      <a:r>
                        <a:t>Consistency</a:t>
                      </a:r>
                    </a:p>
                  </a:txBody>
                  <a:tcPr>
                    <a:solidFill>
                      <a:srgbClr val="FFFFFF"/>
                    </a:solidFill>
                  </a:tcPr>
                </a:tc>
                <a:tc>
                  <a:txBody>
                    <a:bodyPr/>
                    <a:lstStyle/>
                    <a:p>
                      <a:pPr algn="ctr">
                        <a:defRPr sz="950">
                          <a:solidFill>
                            <a:srgbClr val="2A2E35"/>
                          </a:solidFill>
                          <a:latin typeface="Arial"/>
                        </a:defRPr>
                      </a:pPr>
                      <a:r>
                        <a:t>posting_consistency, posting_momentum</a:t>
                      </a:r>
                    </a:p>
                  </a:txBody>
                  <a:tcPr>
                    <a:solidFill>
                      <a:srgbClr val="FFFFFF"/>
                    </a:solidFill>
                  </a:tcPr>
                </a:tc>
                <a:tc>
                  <a:txBody>
                    <a:bodyPr/>
                    <a:lstStyle/>
                    <a:p>
                      <a:pPr algn="ctr">
                        <a:defRPr sz="950">
                          <a:solidFill>
                            <a:srgbClr val="2A2E35"/>
                          </a:solidFill>
                          <a:latin typeface="Arial"/>
                        </a:defRPr>
                      </a:pPr>
                      <a:r>
                        <a:t>Differentiates active professionals from sporadic posters</a:t>
                      </a:r>
                    </a:p>
                  </a:txBody>
                  <a:tcPr>
                    <a:solidFill>
                      <a:srgbClr val="FFFFFF"/>
                    </a:solidFill>
                  </a:tcPr>
                </a:tc>
              </a:tr>
              <a:tr h="685800">
                <a:tc>
                  <a:txBody>
                    <a:bodyPr/>
                    <a:lstStyle/>
                    <a:p>
                      <a:pPr algn="ctr">
                        <a:defRPr sz="950">
                          <a:solidFill>
                            <a:srgbClr val="2A2E35"/>
                          </a:solidFill>
                          <a:latin typeface="Arial"/>
                        </a:defRPr>
                      </a:pPr>
                      <a:r>
                        <a:t>Quality Signals</a:t>
                      </a:r>
                    </a:p>
                  </a:txBody>
                  <a:tcPr>
                    <a:solidFill>
                      <a:srgbClr val="F0F4F8"/>
                    </a:solidFill>
                  </a:tcPr>
                </a:tc>
                <a:tc>
                  <a:txBody>
                    <a:bodyPr/>
                    <a:lstStyle/>
                    <a:p>
                      <a:pPr algn="ctr">
                        <a:defRPr sz="950">
                          <a:solidFill>
                            <a:srgbClr val="2A2E35"/>
                          </a:solidFill>
                          <a:latin typeface="Arial"/>
                        </a:defRPr>
                      </a:pPr>
                      <a:r>
                        <a:t>virality_score, reach_efficiency, engagement_density</a:t>
                      </a:r>
                    </a:p>
                  </a:txBody>
                  <a:tcPr>
                    <a:solidFill>
                      <a:srgbClr val="F0F4F8"/>
                    </a:solidFill>
                  </a:tcPr>
                </a:tc>
                <a:tc>
                  <a:txBody>
                    <a:bodyPr/>
                    <a:lstStyle/>
                    <a:p>
                      <a:pPr algn="ctr">
                        <a:defRPr sz="950">
                          <a:solidFill>
                            <a:srgbClr val="2A2E35"/>
                          </a:solidFill>
                          <a:latin typeface="Arial"/>
                        </a:defRPr>
                      </a:pPr>
                      <a:r>
                        <a:t>Isolates active content discussions and click conversions</a:t>
                      </a:r>
                    </a:p>
                  </a:txBody>
                  <a:tcPr>
                    <a:solidFill>
                      <a:srgbClr val="F0F4F8"/>
                    </a:solidFill>
                  </a:tcPr>
                </a:tc>
              </a:tr>
              <a:tr h="685800">
                <a:tc>
                  <a:txBody>
                    <a:bodyPr/>
                    <a:lstStyle/>
                    <a:p>
                      <a:pPr algn="ctr">
                        <a:defRPr sz="950">
                          <a:solidFill>
                            <a:srgbClr val="2A2E35"/>
                          </a:solidFill>
                          <a:latin typeface="Arial"/>
                        </a:defRPr>
                      </a:pPr>
                      <a:r>
                        <a:t>Interaction Terms</a:t>
                      </a:r>
                    </a:p>
                  </a:txBody>
                  <a:tcPr>
                    <a:solidFill>
                      <a:srgbClr val="FFFFFF"/>
                    </a:solidFill>
                  </a:tcPr>
                </a:tc>
                <a:tc>
                  <a:txBody>
                    <a:bodyPr/>
                    <a:lstStyle/>
                    <a:p>
                      <a:pPr algn="ctr">
                        <a:defRPr sz="950">
                          <a:solidFill>
                            <a:srgbClr val="2A2E35"/>
                          </a:solidFill>
                          <a:latin typeface="Arial"/>
                        </a:defRPr>
                      </a:pPr>
                      <a:r>
                        <a:t>engagement_x_growth, follower_x_growth, eng_x_clicks</a:t>
                      </a:r>
                    </a:p>
                  </a:txBody>
                  <a:tcPr>
                    <a:solidFill>
                      <a:srgbClr val="FFFFFF"/>
                    </a:solidFill>
                  </a:tcPr>
                </a:tc>
                <a:tc>
                  <a:txBody>
                    <a:bodyPr/>
                    <a:lstStyle/>
                    <a:p>
                      <a:pPr algn="ctr">
                        <a:defRPr sz="950">
                          <a:solidFill>
                            <a:srgbClr val="2A2E35"/>
                          </a:solidFill>
                          <a:latin typeface="Arial"/>
                        </a:defRPr>
                      </a:pPr>
                      <a:r>
                        <a:t>Models synergistic effects between size, growth, and conversion</a:t>
                      </a:r>
                    </a:p>
                  </a:txBody>
                  <a:tcPr>
                    <a:solidFill>
                      <a:srgbClr val="FFFFFF"/>
                    </a:solidFill>
                  </a:tcPr>
                </a:tc>
              </a:tr>
              <a:tr h="685800">
                <a:tc>
                  <a:txBody>
                    <a:bodyPr/>
                    <a:lstStyle/>
                    <a:p>
                      <a:pPr algn="ctr">
                        <a:defRPr sz="950">
                          <a:solidFill>
                            <a:srgbClr val="2A2E35"/>
                          </a:solidFill>
                          <a:latin typeface="Arial"/>
                        </a:defRPr>
                      </a:pPr>
                      <a:r>
                        <a:t>Log Transforms</a:t>
                      </a:r>
                    </a:p>
                  </a:txBody>
                  <a:tcPr>
                    <a:solidFill>
                      <a:srgbClr val="F0F4F8"/>
                    </a:solidFill>
                  </a:tcPr>
                </a:tc>
                <a:tc>
                  <a:txBody>
                    <a:bodyPr/>
                    <a:lstStyle/>
                    <a:p>
                      <a:pPr algn="ctr">
                        <a:defRPr sz="950">
                          <a:solidFill>
                            <a:srgbClr val="2A2E35"/>
                          </a:solidFill>
                          <a:latin typeface="Arial"/>
                        </a:defRPr>
                      </a:pPr>
                      <a:r>
                        <a:t>log_followers, log_likes, log_clicks</a:t>
                      </a:r>
                    </a:p>
                  </a:txBody>
                  <a:tcPr>
                    <a:solidFill>
                      <a:srgbClr val="F0F4F8"/>
                    </a:solidFill>
                  </a:tcPr>
                </a:tc>
                <a:tc>
                  <a:txBody>
                    <a:bodyPr/>
                    <a:lstStyle/>
                    <a:p>
                      <a:pPr algn="ctr">
                        <a:defRPr sz="950">
                          <a:solidFill>
                            <a:srgbClr val="2A2E35"/>
                          </a:solidFill>
                          <a:latin typeface="Arial"/>
                        </a:defRPr>
                      </a:pPr>
                      <a:r>
                        <a:t>Compensates for multi-scale power law distribution of followers</a:t>
                      </a:r>
                    </a:p>
                  </a:txBody>
                  <a:tcPr>
                    <a:solidFill>
                      <a:srgbClr val="F0F4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The Original XGBoost Model</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The current production model optimized for sales performance tiering</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SmartInfluence's original predictive engine utilizes an extreme gradient boosting (XGBoost) classifier. It classifies influencers into three tiers based on sales performance:</a:t>
            </a:r>
            <a:br/>
            <a:br/>
            <a:r>
              <a:t>Model Objectives &amp; Architecture:</a:t>
            </a:r>
            <a:br/>
            <a:r>
              <a:t>* **Target Variable:** Sales Performance Class (High: &gt;$10K, Mid: $1K-$10K, Low: &lt;$1K).</a:t>
            </a:r>
            <a:br/>
            <a:r>
              <a:t>* **Features Used:** 34 tabular features (including 19 engineered features, tfidf text arrays, and quantile transforms).</a:t>
            </a:r>
            <a:br/>
            <a:r>
              <a:t>* **Cross-Validation:** 5-Fold Stratified CV ensures robust testing across unequal target distributions.</a:t>
            </a:r>
            <a:br/>
            <a:r>
              <a:t>* **Original Baseline Metrics:** The model achieves 73.36% test accuracy, with an average 5-fold cross-validation accuracy of 73.35% (+/- 0.2%).</a:t>
            </a:r>
            <a:br/>
            <a:br/>
            <a:r>
              <a:t>Performance Assessment:</a:t>
            </a:r>
            <a:br/>
            <a:r>
              <a:t>The model performs excellently at separating high performers from low performers. An audit reveals extremely strong precision for High-tier influencers, ensuring minimal capital waste on low-converting profiles.</a:t>
            </a:r>
          </a:p>
        </p:txBody>
      </p:sp>
      <p:pic>
        <p:nvPicPr>
          <p:cNvPr id="9" name="Picture 8" descr="class_distributions.png"/>
          <p:cNvPicPr>
            <a:picLocks noChangeAspect="1"/>
          </p:cNvPicPr>
          <p:nvPr/>
        </p:nvPicPr>
        <p:blipFill>
          <a:blip r:embed="rId2"/>
          <a:stretch>
            <a:fillRect/>
          </a:stretch>
        </p:blipFill>
        <p:spPr>
          <a:xfrm>
            <a:off x="5943600" y="1645920"/>
            <a:ext cx="5486400" cy="3240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Custom Rank Score &amp; Recommendations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A balanced formula combining predicted class, audience engagement, growth, and confidence</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Predicting a sales category alone is insufficient for prioritization. To rank candidates, SmartInfluence employs a multi-criteria custom rank score formula:</a:t>
            </a:r>
            <a:br/>
            <a:br/>
            <a:r>
              <a:t>**Rank Score Equation:**</a:t>
            </a:r>
            <a:br/>
            <a:r>
              <a:t>Rank = (Sales Score / 3) * 0.40 +</a:t>
            </a:r>
            <a:br/>
            <a:r>
              <a:t>       (Engagement Rate / Eng Max) * 0.30 +</a:t>
            </a:r>
            <a:br/>
            <a:r>
              <a:t>       (Growth Rate / Growth Max) * 0.20 +</a:t>
            </a:r>
            <a:br/>
            <a:r>
              <a:t>       (Confidence / Conf Max) * 0.10</a:t>
            </a:r>
            <a:br/>
            <a:br/>
            <a:r>
              <a:t>Why this weighted design?</a:t>
            </a:r>
            <a:br/>
            <a:r>
              <a:t>* **40% Sales Tier:** Directs primary priority to historically proven commercial performers.</a:t>
            </a:r>
            <a:br/>
            <a:r>
              <a:t>* **30% Engagement Rate:** Rewards influencers who maintain vibrant relationships with their audience.</a:t>
            </a:r>
            <a:br/>
            <a:r>
              <a:t>* **20% Growth Rate:** Surfaces rising stars who are rapidly gaining popularity.</a:t>
            </a:r>
            <a:br/>
            <a:r>
              <a:t>* **10% Prediction Confidence:** Provides a penalty or bonus based on the model's certainty of a "High Performer" prediction.</a:t>
            </a:r>
          </a:p>
        </p:txBody>
      </p:sp>
      <p:sp>
        <p:nvSpPr>
          <p:cNvPr id="9" name="Rounded Rectangle 8"/>
          <p:cNvSpPr/>
          <p:nvPr/>
        </p:nvSpPr>
        <p:spPr>
          <a:xfrm>
            <a:off x="6217920" y="1645920"/>
            <a:ext cx="5029200" cy="2011680"/>
          </a:xfrm>
          <a:prstGeom prst="round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37360"/>
            <a:ext cx="4846320" cy="1828800"/>
          </a:xfrm>
          <a:prstGeom prst="rect">
            <a:avLst/>
          </a:prstGeom>
          <a:noFill/>
        </p:spPr>
        <p:txBody>
          <a:bodyPr wrap="square">
            <a:spAutoFit/>
          </a:bodyPr>
          <a:lstStyle/>
          <a:p>
            <a:pPr algn="l">
              <a:spcAft>
                <a:spcPts val="500"/>
              </a:spcAft>
              <a:defRPr sz="1100" b="0">
                <a:solidFill>
                  <a:srgbClr val="2A2E35"/>
                </a:solidFill>
                <a:latin typeface="Arial"/>
              </a:defRPr>
            </a:pPr>
            <a:r>
              <a:t>Top Recommendations: Predicted High Performers</a:t>
            </a:r>
            <a:br/>
            <a:br/>
            <a:r>
              <a:t>Influencers predicted by the XGBoost classifier as "High Performers" (sales &gt; $10,000) are placed here. These represent the primary campaign candidates, selected because the machine learning model has high confidence in their ability to drive substantial commercial conversions.</a:t>
            </a:r>
          </a:p>
        </p:txBody>
      </p:sp>
      <p:sp>
        <p:nvSpPr>
          <p:cNvPr id="11" name="Rounded Rectangle 10"/>
          <p:cNvSpPr/>
          <p:nvPr/>
        </p:nvSpPr>
        <p:spPr>
          <a:xfrm>
            <a:off x="6217920" y="3931920"/>
            <a:ext cx="5029200" cy="2011680"/>
          </a:xfrm>
          <a:prstGeom prst="roundRect">
            <a:avLst/>
          </a:prstGeom>
          <a:solidFill>
            <a:srgbClr val="F0F4F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4023360"/>
            <a:ext cx="4846320" cy="1828800"/>
          </a:xfrm>
          <a:prstGeom prst="rect">
            <a:avLst/>
          </a:prstGeom>
          <a:noFill/>
        </p:spPr>
        <p:txBody>
          <a:bodyPr wrap="square">
            <a:spAutoFit/>
          </a:bodyPr>
          <a:lstStyle/>
          <a:p>
            <a:pPr algn="l">
              <a:spcAft>
                <a:spcPts val="500"/>
              </a:spcAft>
              <a:defRPr sz="1100" b="0">
                <a:solidFill>
                  <a:srgbClr val="2A2E35"/>
                </a:solidFill>
                <a:latin typeface="Arial"/>
              </a:defRPr>
            </a:pPr>
            <a:r>
              <a:t>Alternatives: High Engagement Hidden Gems</a:t>
            </a:r>
            <a:br/>
            <a:br/>
            <a:r>
              <a:t>Influencers predicted as Mid or Low Performers who nevertheless possess an Instagram engagement rate exceeding 5% are classified as alternatives. This provides brand managers with highly engaging, cost-effective options who may be under-priced but offer intense community connection.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0152" cy="914400"/>
          </a:xfrm>
          <a:prstGeom prst="rect">
            <a:avLst/>
          </a:prstGeom>
          <a:noFill/>
        </p:spPr>
        <p:txBody>
          <a:bodyPr wrap="square">
            <a:spAutoFit/>
          </a:bodyPr>
          <a:lstStyle/>
          <a:p>
            <a:pPr algn="ctr">
              <a:spcAft>
                <a:spcPts val="500"/>
              </a:spcAft>
              <a:defRPr sz="4000" b="1">
                <a:solidFill>
                  <a:srgbClr val="112244"/>
                </a:solidFill>
                <a:latin typeface="Arial"/>
              </a:defRPr>
            </a:pPr>
            <a:r>
              <a:t>Part 2: Benchmarking &amp; Comparisons</a:t>
            </a:r>
          </a:p>
        </p:txBody>
      </p:sp>
      <p:sp>
        <p:nvSpPr>
          <p:cNvPr id="4" name="Rectangle 3"/>
          <p:cNvSpPr/>
          <p:nvPr/>
        </p:nvSpPr>
        <p:spPr>
          <a:xfrm>
            <a:off x="4114800" y="3474720"/>
            <a:ext cx="3959352" cy="2743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360152" cy="731520"/>
          </a:xfrm>
          <a:prstGeom prst="rect">
            <a:avLst/>
          </a:prstGeom>
          <a:noFill/>
        </p:spPr>
        <p:txBody>
          <a:bodyPr wrap="square">
            <a:spAutoFit/>
          </a:bodyPr>
          <a:lstStyle/>
          <a:p>
            <a:pPr algn="ctr">
              <a:spcAft>
                <a:spcPts val="500"/>
              </a:spcAft>
              <a:defRPr sz="1800" b="0">
                <a:solidFill>
                  <a:srgbClr val="1F4E79"/>
                </a:solidFill>
                <a:latin typeface="Arial"/>
              </a:defRPr>
            </a:pPr>
            <a:r>
              <a:t>Exploring alternative models, different target variables, and validating against 18 research papers</a:t>
            </a:r>
          </a:p>
        </p:txBody>
      </p:sp>
      <p:sp>
        <p:nvSpPr>
          <p:cNvPr id="6" name="Rectangle 5"/>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Why Benchmark?</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Evaluating model architecture, alternative target setups, and industry benchmarks</a:t>
            </a:r>
          </a:p>
        </p:txBody>
      </p:sp>
      <p:sp>
        <p:nvSpPr>
          <p:cNvPr id="8" name="TextBox 7"/>
          <p:cNvSpPr txBox="1"/>
          <p:nvPr/>
        </p:nvSpPr>
        <p:spPr>
          <a:xfrm>
            <a:off x="731520" y="1645920"/>
            <a:ext cx="10515600" cy="1097280"/>
          </a:xfrm>
          <a:prstGeom prst="rect">
            <a:avLst/>
          </a:prstGeom>
          <a:noFill/>
        </p:spPr>
        <p:txBody>
          <a:bodyPr wrap="square">
            <a:spAutoFit/>
          </a:bodyPr>
          <a:lstStyle/>
          <a:p>
            <a:pPr algn="l">
              <a:spcAft>
                <a:spcPts val="500"/>
              </a:spcAft>
              <a:defRPr sz="1350" b="0">
                <a:solidFill>
                  <a:srgbClr val="2A2E35"/>
                </a:solidFill>
                <a:latin typeface="Arial"/>
              </a:defRPr>
            </a:pPr>
            <a:r>
              <a:t>While the original production XGBoost model achieved strong initial success (73.36%), the platform required robust validation to answer critical architectural questions. We designed and executed a rigorous, end-to-end benchmarking study to pressure-test our algorithms.</a:t>
            </a:r>
          </a:p>
        </p:txBody>
      </p:sp>
      <p:sp>
        <p:nvSpPr>
          <p:cNvPr id="9" name="TextBox 8"/>
          <p:cNvSpPr txBox="1"/>
          <p:nvPr/>
        </p:nvSpPr>
        <p:spPr>
          <a:xfrm>
            <a:off x="731520" y="2926080"/>
            <a:ext cx="5029200" cy="365760"/>
          </a:xfrm>
          <a:prstGeom prst="rect">
            <a:avLst/>
          </a:prstGeom>
          <a:noFill/>
        </p:spPr>
        <p:txBody>
          <a:bodyPr wrap="square">
            <a:spAutoFit/>
          </a:bodyPr>
          <a:lstStyle/>
          <a:p>
            <a:pPr algn="l">
              <a:spcAft>
                <a:spcPts val="500"/>
              </a:spcAft>
              <a:defRPr sz="1500" b="1">
                <a:solidFill>
                  <a:srgbClr val="112244"/>
                </a:solidFill>
                <a:latin typeface="Arial"/>
              </a:defRPr>
            </a:pPr>
            <a:r>
              <a:t>Core Objectives of Benchmarking:</a:t>
            </a:r>
          </a:p>
        </p:txBody>
      </p:sp>
      <p:sp>
        <p:nvSpPr>
          <p:cNvPr id="10" name="TextBox 9"/>
          <p:cNvSpPr txBox="1"/>
          <p:nvPr/>
        </p:nvSpPr>
        <p:spPr>
          <a:xfrm>
            <a:off x="731520" y="3383280"/>
            <a:ext cx="5029200" cy="2560320"/>
          </a:xfrm>
          <a:prstGeom prst="rect">
            <a:avLst/>
          </a:prstGeom>
          <a:noFill/>
        </p:spPr>
        <p:txBody>
          <a:bodyPr wrap="square">
            <a:spAutoFit/>
          </a:bodyPr>
          <a:lstStyle/>
          <a:p>
            <a:pPr>
              <a:spcAft>
                <a:spcPts val="800"/>
              </a:spcAft>
              <a:defRPr sz="1150">
                <a:solidFill>
                  <a:srgbClr val="2A2E35"/>
                </a:solidFill>
                <a:latin typeface="Arial"/>
              </a:defRPr>
            </a:pPr>
            <a:r>
              <a:t>Explore alternative model families: Are modern gradient boosters (CatBoost, LightGBM) or neural networks superior on our data?</a:t>
            </a:r>
          </a:p>
          <a:p>
            <a:pPr>
              <a:spcAft>
                <a:spcPts val="800"/>
              </a:spcAft>
              <a:defRPr sz="1150">
                <a:solidFill>
                  <a:srgbClr val="2A2E35"/>
                </a:solidFill>
                <a:latin typeface="Arial"/>
              </a:defRPr>
            </a:pPr>
            <a:r>
              <a:t>Evaluate alternative target variables: Is predicting actual sales the easiest problem, or are other metrics (engagement, orders, compound indices) more predictable?</a:t>
            </a:r>
          </a:p>
          <a:p>
            <a:pPr>
              <a:spcAft>
                <a:spcPts val="800"/>
              </a:spcAft>
              <a:defRPr sz="1150">
                <a:solidFill>
                  <a:srgbClr val="2A2E35"/>
                </a:solidFill>
                <a:latin typeface="Arial"/>
              </a:defRPr>
            </a:pPr>
            <a:r>
              <a:t>Verify against published academic standards: How does our performance stack up against peer-reviewed systems in the literature?</a:t>
            </a:r>
          </a:p>
          <a:p>
            <a:pPr>
              <a:spcAft>
                <a:spcPts val="800"/>
              </a:spcAft>
              <a:defRPr sz="1150">
                <a:solidFill>
                  <a:srgbClr val="2A2E35"/>
                </a:solidFill>
                <a:latin typeface="Arial"/>
              </a:defRPr>
            </a:pPr>
            <a:r>
              <a:t>Assess generalization and risk: Which models display the highest risk of overfitting to campaign data, and which are the most robust?</a:t>
            </a:r>
          </a:p>
        </p:txBody>
      </p:sp>
      <p:sp>
        <p:nvSpPr>
          <p:cNvPr id="11" name="TextBox 10"/>
          <p:cNvSpPr txBox="1"/>
          <p:nvPr/>
        </p:nvSpPr>
        <p:spPr>
          <a:xfrm>
            <a:off x="6217920" y="2926080"/>
            <a:ext cx="5029200" cy="365760"/>
          </a:xfrm>
          <a:prstGeom prst="rect">
            <a:avLst/>
          </a:prstGeom>
          <a:noFill/>
        </p:spPr>
        <p:txBody>
          <a:bodyPr wrap="square">
            <a:spAutoFit/>
          </a:bodyPr>
          <a:lstStyle/>
          <a:p>
            <a:pPr algn="l">
              <a:spcAft>
                <a:spcPts val="500"/>
              </a:spcAft>
              <a:defRPr sz="1500" b="1">
                <a:solidFill>
                  <a:srgbClr val="112244"/>
                </a:solidFill>
                <a:latin typeface="Arial"/>
              </a:defRPr>
            </a:pPr>
            <a:r>
              <a:t>Benchmarking Achievements:</a:t>
            </a:r>
          </a:p>
        </p:txBody>
      </p:sp>
      <p:sp>
        <p:nvSpPr>
          <p:cNvPr id="12" name="TextBox 11"/>
          <p:cNvSpPr txBox="1"/>
          <p:nvPr/>
        </p:nvSpPr>
        <p:spPr>
          <a:xfrm>
            <a:off x="6217920" y="3383280"/>
            <a:ext cx="5029200" cy="2560320"/>
          </a:xfrm>
          <a:prstGeom prst="rect">
            <a:avLst/>
          </a:prstGeom>
          <a:noFill/>
        </p:spPr>
        <p:txBody>
          <a:bodyPr wrap="square">
            <a:spAutoFit/>
          </a:bodyPr>
          <a:lstStyle/>
          <a:p>
            <a:pPr>
              <a:spcAft>
                <a:spcPts val="800"/>
              </a:spcAft>
              <a:defRPr sz="1150">
                <a:solidFill>
                  <a:srgbClr val="2A2E35"/>
                </a:solidFill>
                <a:latin typeface="Arial"/>
              </a:defRPr>
            </a:pPr>
            <a:r>
              <a:t>Run 66 complete experiments (11 models evaluated across 6 target variable configurations).</a:t>
            </a:r>
          </a:p>
          <a:p>
            <a:pPr>
              <a:spcAft>
                <a:spcPts val="800"/>
              </a:spcAft>
              <a:defRPr sz="1150">
                <a:solidFill>
                  <a:srgbClr val="2A2E35"/>
                </a:solidFill>
                <a:latin typeface="Arial"/>
              </a:defRPr>
            </a:pPr>
            <a:r>
              <a:t>Implemented 8 new algorithms sourced directly from prominent academic papers.</a:t>
            </a:r>
          </a:p>
          <a:p>
            <a:pPr>
              <a:spcAft>
                <a:spcPts val="800"/>
              </a:spcAft>
              <a:defRPr sz="1150">
                <a:solidFill>
                  <a:srgbClr val="2A2E35"/>
                </a:solidFill>
                <a:latin typeface="Arial"/>
              </a:defRPr>
            </a:pPr>
            <a:r>
              <a:t>Compiled standard comparison metrics: balanced accuracy, macro precision/recall, macro AUC-ROC, and train-test generalization gap.</a:t>
            </a:r>
          </a:p>
          <a:p>
            <a:pPr>
              <a:spcAft>
                <a:spcPts val="800"/>
              </a:spcAft>
              <a:defRPr sz="1150">
                <a:solidFill>
                  <a:srgbClr val="2A2E35"/>
                </a:solidFill>
                <a:latin typeface="Arial"/>
              </a:defRPr>
            </a:pPr>
            <a:r>
              <a:t>Conducted literature reviews comparing our findings against 18 peer papers.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The 11 Machine Learning Models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Evaluating 3 internal configurations alongside 8 external peer-reviewed architectures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We compared our three existing models against eight new model architectures cited frequently in recent influencer and marketing research papers:</a:t>
            </a:r>
            <a:br/>
            <a:br/>
            <a:r>
              <a:t>Internal Models Evaluated:</a:t>
            </a:r>
            <a:br/>
            <a:r>
              <a:t>* **XGBoost:** Highly parameterized gradient booster.</a:t>
            </a:r>
            <a:br/>
            <a:r>
              <a:t>* **CatBoost:** Optimized for symmetric tree structures and categorical data.</a:t>
            </a:r>
            <a:br/>
            <a:r>
              <a:t>* **Random Forest:** Bagged ensemble offering robust baseline variance control.</a:t>
            </a:r>
            <a:br/>
            <a:br/>
            <a:r>
              <a:t>External Models from Research Papers:</a:t>
            </a:r>
            <a:br/>
            <a:r>
              <a:t>* **SVM (Linear &amp; RBF Kernels):** Used in Springer (2020) for influencer indexing.</a:t>
            </a:r>
            <a:br/>
            <a:r>
              <a:t>* **Logistic Regression:** Popular baseline in data profiling and marketing papers.</a:t>
            </a:r>
            <a:br/>
            <a:r>
              <a:t>* **KNN:** Distance-based model from Springer system designs.</a:t>
            </a:r>
            <a:br/>
            <a:r>
              <a:t>* **Decision Tree:** Sourced from Bahaa et al. baseline studies.</a:t>
            </a:r>
            <a:br/>
            <a:r>
              <a:t>* **Gradient Boosting:** Standard ensemble from DSD influencer ranking papers.</a:t>
            </a:r>
            <a:br/>
            <a:r>
              <a:t>* **LightGBM:** Leaf-wise gradient booster from DSD success prediction papers.</a:t>
            </a:r>
            <a:br/>
            <a:r>
              <a:t>* **MLP Neural Network:** Multi-layer perceptron from Bahaa et al. (2021).</a:t>
            </a:r>
          </a:p>
        </p:txBody>
      </p:sp>
      <p:graphicFrame>
        <p:nvGraphicFramePr>
          <p:cNvPr id="9" name="Table 8"/>
          <p:cNvGraphicFramePr>
            <a:graphicFrameLocks noGrp="1"/>
          </p:cNvGraphicFramePr>
          <p:nvPr/>
        </p:nvGraphicFramePr>
        <p:xfrm>
          <a:off x="5943600" y="1645920"/>
          <a:ext cx="5486400" cy="4114800"/>
        </p:xfrm>
        <a:graphic>
          <a:graphicData uri="http://schemas.openxmlformats.org/drawingml/2006/table">
            <a:tbl>
              <a:tblPr firstRow="1" bandRow="1">
                <a:tableStyleId>{5C22544A-7EE6-4342-B048-85BDC9FD1C3A}</a:tableStyleId>
              </a:tblPr>
              <a:tblGrid>
                <a:gridCol w="1828800"/>
                <a:gridCol w="1828800"/>
                <a:gridCol w="1828800"/>
              </a:tblGrid>
              <a:tr h="457200">
                <a:tc>
                  <a:txBody>
                    <a:bodyPr/>
                    <a:lstStyle/>
                    <a:p>
                      <a:pPr algn="ctr">
                        <a:defRPr sz="900" b="1">
                          <a:solidFill>
                            <a:srgbClr val="FFFFFF"/>
                          </a:solidFill>
                          <a:latin typeface="Arial"/>
                        </a:defRPr>
                      </a:pPr>
                      <a:r>
                        <a:t>Model Name</a:t>
                      </a:r>
                    </a:p>
                  </a:txBody>
                  <a:tcPr>
                    <a:solidFill>
                      <a:srgbClr val="1F4E79"/>
                    </a:solidFill>
                  </a:tcPr>
                </a:tc>
                <a:tc>
                  <a:txBody>
                    <a:bodyPr/>
                    <a:lstStyle/>
                    <a:p>
                      <a:pPr algn="ctr">
                        <a:defRPr sz="900" b="1">
                          <a:solidFill>
                            <a:srgbClr val="FFFFFF"/>
                          </a:solidFill>
                          <a:latin typeface="Arial"/>
                        </a:defRPr>
                      </a:pPr>
                      <a:r>
                        <a:t>Origin / Source</a:t>
                      </a:r>
                    </a:p>
                  </a:txBody>
                  <a:tcPr>
                    <a:solidFill>
                      <a:srgbClr val="1F4E79"/>
                    </a:solidFill>
                  </a:tcPr>
                </a:tc>
                <a:tc>
                  <a:txBody>
                    <a:bodyPr/>
                    <a:lstStyle/>
                    <a:p>
                      <a:pPr algn="ctr">
                        <a:defRPr sz="900" b="1">
                          <a:solidFill>
                            <a:srgbClr val="FFFFFF"/>
                          </a:solidFill>
                          <a:latin typeface="Arial"/>
                        </a:defRPr>
                      </a:pPr>
                      <a:r>
                        <a:t>Key Architectural Parameters</a:t>
                      </a:r>
                    </a:p>
                  </a:txBody>
                  <a:tcPr>
                    <a:solidFill>
                      <a:srgbClr val="1F4E79"/>
                    </a:solidFill>
                  </a:tcPr>
                </a:tc>
              </a:tr>
              <a:tr h="457200">
                <a:tc>
                  <a:txBody>
                    <a:bodyPr/>
                    <a:lstStyle/>
                    <a:p>
                      <a:pPr algn="ctr">
                        <a:defRPr sz="900">
                          <a:solidFill>
                            <a:srgbClr val="2A2E35"/>
                          </a:solidFill>
                          <a:latin typeface="Arial"/>
                        </a:defRPr>
                      </a:pPr>
                      <a:r>
                        <a:t>XGBoost</a:t>
                      </a:r>
                    </a:p>
                  </a:txBody>
                  <a:tcPr>
                    <a:solidFill>
                      <a:srgbClr val="F0F4F8"/>
                    </a:solidFill>
                  </a:tcPr>
                </a:tc>
                <a:tc>
                  <a:txBody>
                    <a:bodyPr/>
                    <a:lstStyle/>
                    <a:p>
                      <a:pPr algn="ctr">
                        <a:defRPr sz="900">
                          <a:solidFill>
                            <a:srgbClr val="2A2E35"/>
                          </a:solidFill>
                          <a:latin typeface="Arial"/>
                        </a:defRPr>
                      </a:pPr>
                      <a:r>
                        <a:t>Internal Platform</a:t>
                      </a:r>
                    </a:p>
                  </a:txBody>
                  <a:tcPr>
                    <a:solidFill>
                      <a:srgbClr val="F0F4F8"/>
                    </a:solidFill>
                  </a:tcPr>
                </a:tc>
                <a:tc>
                  <a:txBody>
                    <a:bodyPr/>
                    <a:lstStyle/>
                    <a:p>
                      <a:pPr algn="ctr">
                        <a:defRPr sz="900">
                          <a:solidFill>
                            <a:srgbClr val="2A2E35"/>
                          </a:solidFill>
                          <a:latin typeface="Arial"/>
                        </a:defRPr>
                      </a:pPr>
                      <a:r>
                        <a:t>n_est=400, depth=5, lr=0.05, sub=0.8</a:t>
                      </a:r>
                    </a:p>
                  </a:txBody>
                  <a:tcPr>
                    <a:solidFill>
                      <a:srgbClr val="F0F4F8"/>
                    </a:solidFill>
                  </a:tcPr>
                </a:tc>
              </a:tr>
              <a:tr h="457200">
                <a:tc>
                  <a:txBody>
                    <a:bodyPr/>
                    <a:lstStyle/>
                    <a:p>
                      <a:pPr algn="ctr">
                        <a:defRPr sz="900">
                          <a:solidFill>
                            <a:srgbClr val="2A2E35"/>
                          </a:solidFill>
                          <a:latin typeface="Arial"/>
                        </a:defRPr>
                      </a:pPr>
                      <a:r>
                        <a:t>CatBoost</a:t>
                      </a:r>
                    </a:p>
                  </a:txBody>
                  <a:tcPr>
                    <a:solidFill>
                      <a:srgbClr val="FFFFFF"/>
                    </a:solidFill>
                  </a:tcPr>
                </a:tc>
                <a:tc>
                  <a:txBody>
                    <a:bodyPr/>
                    <a:lstStyle/>
                    <a:p>
                      <a:pPr algn="ctr">
                        <a:defRPr sz="900">
                          <a:solidFill>
                            <a:srgbClr val="2A2E35"/>
                          </a:solidFill>
                          <a:latin typeface="Arial"/>
                        </a:defRPr>
                      </a:pPr>
                      <a:r>
                        <a:t>Internal Platform</a:t>
                      </a:r>
                    </a:p>
                  </a:txBody>
                  <a:tcPr>
                    <a:solidFill>
                      <a:srgbClr val="FFFFFF"/>
                    </a:solidFill>
                  </a:tcPr>
                </a:tc>
                <a:tc>
                  <a:txBody>
                    <a:bodyPr/>
                    <a:lstStyle/>
                    <a:p>
                      <a:pPr algn="ctr">
                        <a:defRPr sz="900">
                          <a:solidFill>
                            <a:srgbClr val="2A2E35"/>
                          </a:solidFill>
                          <a:latin typeface="Arial"/>
                        </a:defRPr>
                      </a:pPr>
                      <a:r>
                        <a:t>iter=300, depth=6, lr=0.05, verbose=0</a:t>
                      </a:r>
                    </a:p>
                  </a:txBody>
                  <a:tcPr>
                    <a:solidFill>
                      <a:srgbClr val="FFFFFF"/>
                    </a:solidFill>
                  </a:tcPr>
                </a:tc>
              </a:tr>
              <a:tr h="457200">
                <a:tc>
                  <a:txBody>
                    <a:bodyPr/>
                    <a:lstStyle/>
                    <a:p>
                      <a:pPr algn="ctr">
                        <a:defRPr sz="900">
                          <a:solidFill>
                            <a:srgbClr val="2A2E35"/>
                          </a:solidFill>
                          <a:latin typeface="Arial"/>
                        </a:defRPr>
                      </a:pPr>
                      <a:r>
                        <a:t>Random Forest</a:t>
                      </a:r>
                    </a:p>
                  </a:txBody>
                  <a:tcPr>
                    <a:solidFill>
                      <a:srgbClr val="F0F4F8"/>
                    </a:solidFill>
                  </a:tcPr>
                </a:tc>
                <a:tc>
                  <a:txBody>
                    <a:bodyPr/>
                    <a:lstStyle/>
                    <a:p>
                      <a:pPr algn="ctr">
                        <a:defRPr sz="900">
                          <a:solidFill>
                            <a:srgbClr val="2A2E35"/>
                          </a:solidFill>
                          <a:latin typeface="Arial"/>
                        </a:defRPr>
                      </a:pPr>
                      <a:r>
                        <a:t>Internal Platform</a:t>
                      </a:r>
                    </a:p>
                  </a:txBody>
                  <a:tcPr>
                    <a:solidFill>
                      <a:srgbClr val="F0F4F8"/>
                    </a:solidFill>
                  </a:tcPr>
                </a:tc>
                <a:tc>
                  <a:txBody>
                    <a:bodyPr/>
                    <a:lstStyle/>
                    <a:p>
                      <a:pPr algn="ctr">
                        <a:defRPr sz="900">
                          <a:solidFill>
                            <a:srgbClr val="2A2E35"/>
                          </a:solidFill>
                          <a:latin typeface="Arial"/>
                        </a:defRPr>
                      </a:pPr>
                      <a:r>
                        <a:t>n_est=200, depth=12, min_leaf=4</a:t>
                      </a:r>
                    </a:p>
                  </a:txBody>
                  <a:tcPr>
                    <a:solidFill>
                      <a:srgbClr val="F0F4F8"/>
                    </a:solidFill>
                  </a:tcPr>
                </a:tc>
              </a:tr>
              <a:tr h="457200">
                <a:tc>
                  <a:txBody>
                    <a:bodyPr/>
                    <a:lstStyle/>
                    <a:p>
                      <a:pPr algn="ctr">
                        <a:defRPr sz="900">
                          <a:solidFill>
                            <a:srgbClr val="2A2E35"/>
                          </a:solidFill>
                          <a:latin typeface="Arial"/>
                        </a:defRPr>
                      </a:pPr>
                      <a:r>
                        <a:t>SVM (RBF)</a:t>
                      </a:r>
                    </a:p>
                  </a:txBody>
                  <a:tcPr>
                    <a:solidFill>
                      <a:srgbClr val="FFFFFF"/>
                    </a:solidFill>
                  </a:tcPr>
                </a:tc>
                <a:tc>
                  <a:txBody>
                    <a:bodyPr/>
                    <a:lstStyle/>
                    <a:p>
                      <a:pPr algn="ctr">
                        <a:defRPr sz="900">
                          <a:solidFill>
                            <a:srgbClr val="2A2E35"/>
                          </a:solidFill>
                          <a:latin typeface="Arial"/>
                        </a:defRPr>
                      </a:pPr>
                      <a:r>
                        <a:t>Springer paper</a:t>
                      </a:r>
                    </a:p>
                  </a:txBody>
                  <a:tcPr>
                    <a:solidFill>
                      <a:srgbClr val="FFFFFF"/>
                    </a:solidFill>
                  </a:tcPr>
                </a:tc>
                <a:tc>
                  <a:txBody>
                    <a:bodyPr/>
                    <a:lstStyle/>
                    <a:p>
                      <a:pPr algn="ctr">
                        <a:defRPr sz="900">
                          <a:solidFill>
                            <a:srgbClr val="2A2E35"/>
                          </a:solidFill>
                          <a:latin typeface="Arial"/>
                        </a:defRPr>
                      </a:pPr>
                      <a:r>
                        <a:t>kernel=rbf, probability=True, C=1.0</a:t>
                      </a:r>
                    </a:p>
                  </a:txBody>
                  <a:tcPr>
                    <a:solidFill>
                      <a:srgbClr val="FFFFFF"/>
                    </a:solidFill>
                  </a:tcPr>
                </a:tc>
              </a:tr>
              <a:tr h="457200">
                <a:tc>
                  <a:txBody>
                    <a:bodyPr/>
                    <a:lstStyle/>
                    <a:p>
                      <a:pPr algn="ctr">
                        <a:defRPr sz="900">
                          <a:solidFill>
                            <a:srgbClr val="2A2E35"/>
                          </a:solidFill>
                          <a:latin typeface="Arial"/>
                        </a:defRPr>
                      </a:pPr>
                      <a:r>
                        <a:t>SVM (Linear)</a:t>
                      </a:r>
                    </a:p>
                  </a:txBody>
                  <a:tcPr>
                    <a:solidFill>
                      <a:srgbClr val="F0F4F8"/>
                    </a:solidFill>
                  </a:tcPr>
                </a:tc>
                <a:tc>
                  <a:txBody>
                    <a:bodyPr/>
                    <a:lstStyle/>
                    <a:p>
                      <a:pPr algn="ctr">
                        <a:defRPr sz="900">
                          <a:solidFill>
                            <a:srgbClr val="2A2E35"/>
                          </a:solidFill>
                          <a:latin typeface="Arial"/>
                        </a:defRPr>
                      </a:pPr>
                      <a:r>
                        <a:t>Springer paper</a:t>
                      </a:r>
                    </a:p>
                  </a:txBody>
                  <a:tcPr>
                    <a:solidFill>
                      <a:srgbClr val="F0F4F8"/>
                    </a:solidFill>
                  </a:tcPr>
                </a:tc>
                <a:tc>
                  <a:txBody>
                    <a:bodyPr/>
                    <a:lstStyle/>
                    <a:p>
                      <a:pPr algn="ctr">
                        <a:defRPr sz="900">
                          <a:solidFill>
                            <a:srgbClr val="2A2E35"/>
                          </a:solidFill>
                          <a:latin typeface="Arial"/>
                        </a:defRPr>
                      </a:pPr>
                      <a:r>
                        <a:t>kernel=linear, probability=True, C=1.0</a:t>
                      </a:r>
                    </a:p>
                  </a:txBody>
                  <a:tcPr>
                    <a:solidFill>
                      <a:srgbClr val="F0F4F8"/>
                    </a:solidFill>
                  </a:tcPr>
                </a:tc>
              </a:tr>
              <a:tr h="457200">
                <a:tc>
                  <a:txBody>
                    <a:bodyPr/>
                    <a:lstStyle/>
                    <a:p>
                      <a:pPr algn="ctr">
                        <a:defRPr sz="900">
                          <a:solidFill>
                            <a:srgbClr val="2A2E35"/>
                          </a:solidFill>
                          <a:latin typeface="Arial"/>
                        </a:defRPr>
                      </a:pPr>
                      <a:r>
                        <a:t>Logistic Reg.</a:t>
                      </a:r>
                    </a:p>
                  </a:txBody>
                  <a:tcPr>
                    <a:solidFill>
                      <a:srgbClr val="FFFFFF"/>
                    </a:solidFill>
                  </a:tcPr>
                </a:tc>
                <a:tc>
                  <a:txBody>
                    <a:bodyPr/>
                    <a:lstStyle/>
                    <a:p>
                      <a:pPr algn="ctr">
                        <a:defRPr sz="900">
                          <a:solidFill>
                            <a:srgbClr val="2A2E35"/>
                          </a:solidFill>
                          <a:latin typeface="Arial"/>
                        </a:defRPr>
                      </a:pPr>
                      <a:r>
                        <a:t>Data Profiling paper</a:t>
                      </a:r>
                    </a:p>
                  </a:txBody>
                  <a:tcPr>
                    <a:solidFill>
                      <a:srgbClr val="FFFFFF"/>
                    </a:solidFill>
                  </a:tcPr>
                </a:tc>
                <a:tc>
                  <a:txBody>
                    <a:bodyPr/>
                    <a:lstStyle/>
                    <a:p>
                      <a:pPr algn="ctr">
                        <a:defRPr sz="900">
                          <a:solidFill>
                            <a:srgbClr val="2A2E35"/>
                          </a:solidFill>
                          <a:latin typeface="Arial"/>
                        </a:defRPr>
                      </a:pPr>
                      <a:r>
                        <a:t>max_iter=1000, multi_class=multinomial</a:t>
                      </a:r>
                    </a:p>
                  </a:txBody>
                  <a:tcPr>
                    <a:solidFill>
                      <a:srgbClr val="FFFFFF"/>
                    </a:solidFill>
                  </a:tcPr>
                </a:tc>
              </a:tr>
              <a:tr h="457200">
                <a:tc>
                  <a:txBody>
                    <a:bodyPr/>
                    <a:lstStyle/>
                    <a:p>
                      <a:pPr algn="ctr">
                        <a:defRPr sz="900">
                          <a:solidFill>
                            <a:srgbClr val="2A2E35"/>
                          </a:solidFill>
                          <a:latin typeface="Arial"/>
                        </a:defRPr>
                      </a:pPr>
                      <a:r>
                        <a:t>KNN</a:t>
                      </a:r>
                    </a:p>
                  </a:txBody>
                  <a:tcPr>
                    <a:solidFill>
                      <a:srgbClr val="F0F4F8"/>
                    </a:solidFill>
                  </a:tcPr>
                </a:tc>
                <a:tc>
                  <a:txBody>
                    <a:bodyPr/>
                    <a:lstStyle/>
                    <a:p>
                      <a:pPr algn="ctr">
                        <a:defRPr sz="900">
                          <a:solidFill>
                            <a:srgbClr val="2A2E35"/>
                          </a:solidFill>
                          <a:latin typeface="Arial"/>
                        </a:defRPr>
                      </a:pPr>
                      <a:r>
                        <a:t>Springer paper</a:t>
                      </a:r>
                    </a:p>
                  </a:txBody>
                  <a:tcPr>
                    <a:solidFill>
                      <a:srgbClr val="F0F4F8"/>
                    </a:solidFill>
                  </a:tcPr>
                </a:tc>
                <a:tc>
                  <a:txBody>
                    <a:bodyPr/>
                    <a:lstStyle/>
                    <a:p>
                      <a:pPr algn="ctr">
                        <a:defRPr sz="900">
                          <a:solidFill>
                            <a:srgbClr val="2A2E35"/>
                          </a:solidFill>
                          <a:latin typeface="Arial"/>
                        </a:defRPr>
                      </a:pPr>
                      <a:r>
                        <a:t>n_neighbors=5, metric=minkowski</a:t>
                      </a:r>
                    </a:p>
                  </a:txBody>
                  <a:tcPr>
                    <a:solidFill>
                      <a:srgbClr val="F0F4F8"/>
                    </a:solidFill>
                  </a:tcPr>
                </a:tc>
              </a:tr>
              <a:tr h="457200">
                <a:tc>
                  <a:txBody>
                    <a:bodyPr/>
                    <a:lstStyle/>
                    <a:p>
                      <a:pPr algn="ctr">
                        <a:defRPr sz="900">
                          <a:solidFill>
                            <a:srgbClr val="2A2E35"/>
                          </a:solidFill>
                          <a:latin typeface="Arial"/>
                        </a:defRPr>
                      </a:pPr>
                      <a:r>
                        <a:t>MLP Network</a:t>
                      </a:r>
                    </a:p>
                  </a:txBody>
                  <a:tcPr>
                    <a:solidFill>
                      <a:srgbClr val="FFFFFF"/>
                    </a:solidFill>
                  </a:tcPr>
                </a:tc>
                <a:tc>
                  <a:txBody>
                    <a:bodyPr/>
                    <a:lstStyle/>
                    <a:p>
                      <a:pPr algn="ctr">
                        <a:defRPr sz="900">
                          <a:solidFill>
                            <a:srgbClr val="2A2E35"/>
                          </a:solidFill>
                          <a:latin typeface="Arial"/>
                        </a:defRPr>
                      </a:pPr>
                      <a:r>
                        <a:t>Bahaa et al. (2021)</a:t>
                      </a:r>
                    </a:p>
                  </a:txBody>
                  <a:tcPr>
                    <a:solidFill>
                      <a:srgbClr val="FFFFFF"/>
                    </a:solidFill>
                  </a:tcPr>
                </a:tc>
                <a:tc>
                  <a:txBody>
                    <a:bodyPr/>
                    <a:lstStyle/>
                    <a:p>
                      <a:pPr algn="ctr">
                        <a:defRPr sz="900">
                          <a:solidFill>
                            <a:srgbClr val="2A2E35"/>
                          </a:solidFill>
                          <a:latin typeface="Arial"/>
                        </a:defRPr>
                      </a:pPr>
                      <a:r>
                        <a:t>hidden=(128, 64), max_iter=500, early_stop</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The 6 Trial Configurations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Testing 6 target definitions to discover the most predictable aspects of performance</a:t>
            </a:r>
          </a:p>
        </p:txBody>
      </p:sp>
      <p:sp>
        <p:nvSpPr>
          <p:cNvPr id="8" name="TextBox 7"/>
          <p:cNvSpPr txBox="1"/>
          <p:nvPr/>
        </p:nvSpPr>
        <p:spPr>
          <a:xfrm>
            <a:off x="731520" y="1645920"/>
            <a:ext cx="10515600" cy="731520"/>
          </a:xfrm>
          <a:prstGeom prst="rect">
            <a:avLst/>
          </a:prstGeom>
          <a:noFill/>
        </p:spPr>
        <p:txBody>
          <a:bodyPr wrap="square">
            <a:spAutoFit/>
          </a:bodyPr>
          <a:lstStyle/>
          <a:p>
            <a:pPr algn="l">
              <a:spcAft>
                <a:spcPts val="500"/>
              </a:spcAft>
              <a:defRPr sz="1300" b="0">
                <a:solidFill>
                  <a:srgbClr val="2A2E35"/>
                </a:solidFill>
                <a:latin typeface="Arial"/>
              </a:defRPr>
            </a:pPr>
            <a:r>
              <a:t>To understand what marketing objectives are most easily modeled, we structured 6 different trials. Each trial isolates a distinct target variable. All 11 models are trained and tested against all 6 configurations, totaling 66 experiments.</a:t>
            </a:r>
          </a:p>
        </p:txBody>
      </p:sp>
      <p:graphicFrame>
        <p:nvGraphicFramePr>
          <p:cNvPr id="9" name="Table 8"/>
          <p:cNvGraphicFramePr>
            <a:graphicFrameLocks noGrp="1"/>
          </p:cNvGraphicFramePr>
          <p:nvPr/>
        </p:nvGraphicFramePr>
        <p:xfrm>
          <a:off x="731520" y="2560320"/>
          <a:ext cx="10698480" cy="292608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418011">
                <a:tc>
                  <a:txBody>
                    <a:bodyPr/>
                    <a:lstStyle/>
                    <a:p>
                      <a:pPr algn="ctr">
                        <a:defRPr sz="1000" b="1">
                          <a:solidFill>
                            <a:srgbClr val="FFFFFF"/>
                          </a:solidFill>
                          <a:latin typeface="Arial"/>
                        </a:defRPr>
                      </a:pPr>
                      <a:r>
                        <a:t>Trial</a:t>
                      </a:r>
                    </a:p>
                  </a:txBody>
                  <a:tcPr>
                    <a:solidFill>
                      <a:srgbClr val="1F4E79"/>
                    </a:solidFill>
                  </a:tcPr>
                </a:tc>
                <a:tc>
                  <a:txBody>
                    <a:bodyPr/>
                    <a:lstStyle/>
                    <a:p>
                      <a:pPr algn="ctr">
                        <a:defRPr sz="1000" b="1">
                          <a:solidFill>
                            <a:srgbClr val="FFFFFF"/>
                          </a:solidFill>
                          <a:latin typeface="Arial"/>
                        </a:defRPr>
                      </a:pPr>
                      <a:r>
                        <a:t>Target Name</a:t>
                      </a:r>
                    </a:p>
                  </a:txBody>
                  <a:tcPr>
                    <a:solidFill>
                      <a:srgbClr val="1F4E79"/>
                    </a:solidFill>
                  </a:tcPr>
                </a:tc>
                <a:tc>
                  <a:txBody>
                    <a:bodyPr/>
                    <a:lstStyle/>
                    <a:p>
                      <a:pPr algn="ctr">
                        <a:defRPr sz="1000" b="1">
                          <a:solidFill>
                            <a:srgbClr val="FFFFFF"/>
                          </a:solidFill>
                          <a:latin typeface="Arial"/>
                        </a:defRPr>
                      </a:pPr>
                      <a:r>
                        <a:t>Target Column</a:t>
                      </a:r>
                    </a:p>
                  </a:txBody>
                  <a:tcPr>
                    <a:solidFill>
                      <a:srgbClr val="1F4E79"/>
                    </a:solidFill>
                  </a:tcPr>
                </a:tc>
                <a:tc>
                  <a:txBody>
                    <a:bodyPr/>
                    <a:lstStyle/>
                    <a:p>
                      <a:pPr algn="ctr">
                        <a:defRPr sz="1000" b="1">
                          <a:solidFill>
                            <a:srgbClr val="FFFFFF"/>
                          </a:solidFill>
                          <a:latin typeface="Arial"/>
                        </a:defRPr>
                      </a:pPr>
                      <a:r>
                        <a:t>Class Definitions</a:t>
                      </a:r>
                    </a:p>
                  </a:txBody>
                  <a:tcPr>
                    <a:solidFill>
                      <a:srgbClr val="1F4E79"/>
                    </a:solidFill>
                  </a:tcPr>
                </a:tc>
                <a:tc>
                  <a:txBody>
                    <a:bodyPr/>
                    <a:lstStyle/>
                    <a:p>
                      <a:pPr algn="ctr">
                        <a:defRPr sz="1000" b="1">
                          <a:solidFill>
                            <a:srgbClr val="FFFFFF"/>
                          </a:solidFill>
                          <a:latin typeface="Arial"/>
                        </a:defRPr>
                      </a:pPr>
                      <a:r>
                        <a:t>Business Justification</a:t>
                      </a:r>
                    </a:p>
                  </a:txBody>
                  <a:tcPr>
                    <a:solidFill>
                      <a:srgbClr val="1F4E79"/>
                    </a:solidFill>
                  </a:tcPr>
                </a:tc>
              </a:tr>
              <a:tr h="418011">
                <a:tc>
                  <a:txBody>
                    <a:bodyPr/>
                    <a:lstStyle/>
                    <a:p>
                      <a:pPr algn="ctr">
                        <a:defRPr sz="1000">
                          <a:solidFill>
                            <a:srgbClr val="2A2E35"/>
                          </a:solidFill>
                          <a:latin typeface="Arial"/>
                        </a:defRPr>
                      </a:pPr>
                      <a:r>
                        <a:t>Trial 1</a:t>
                      </a:r>
                    </a:p>
                  </a:txBody>
                  <a:tcPr>
                    <a:solidFill>
                      <a:srgbClr val="F0F4F8"/>
                    </a:solidFill>
                  </a:tcPr>
                </a:tc>
                <a:tc>
                  <a:txBody>
                    <a:bodyPr/>
                    <a:lstStyle/>
                    <a:p>
                      <a:pPr algn="ctr">
                        <a:defRPr sz="1000">
                          <a:solidFill>
                            <a:srgbClr val="2A2E35"/>
                          </a:solidFill>
                          <a:latin typeface="Arial"/>
                        </a:defRPr>
                      </a:pPr>
                      <a:r>
                        <a:t>Sales Class</a:t>
                      </a:r>
                    </a:p>
                  </a:txBody>
                  <a:tcPr>
                    <a:solidFill>
                      <a:srgbClr val="F0F4F8"/>
                    </a:solidFill>
                  </a:tcPr>
                </a:tc>
                <a:tc>
                  <a:txBody>
                    <a:bodyPr/>
                    <a:lstStyle/>
                    <a:p>
                      <a:pPr algn="ctr">
                        <a:defRPr sz="1000">
                          <a:solidFill>
                            <a:srgbClr val="2A2E35"/>
                          </a:solidFill>
                          <a:latin typeface="Arial"/>
                        </a:defRPr>
                      </a:pPr>
                      <a:r>
                        <a:t>TOTAL_SALES</a:t>
                      </a:r>
                    </a:p>
                  </a:txBody>
                  <a:tcPr>
                    <a:solidFill>
                      <a:srgbClr val="F0F4F8"/>
                    </a:solidFill>
                  </a:tcPr>
                </a:tc>
                <a:tc>
                  <a:txBody>
                    <a:bodyPr/>
                    <a:lstStyle/>
                    <a:p>
                      <a:pPr algn="ctr">
                        <a:defRPr sz="1000">
                          <a:solidFill>
                            <a:srgbClr val="2A2E35"/>
                          </a:solidFill>
                          <a:latin typeface="Arial"/>
                        </a:defRPr>
                      </a:pPr>
                      <a:r>
                        <a:t>High (&gt;$10k) / Mid ($1k-$10k) / Low (&lt;$1k)</a:t>
                      </a:r>
                    </a:p>
                  </a:txBody>
                  <a:tcPr>
                    <a:solidFill>
                      <a:srgbClr val="F0F4F8"/>
                    </a:solidFill>
                  </a:tcPr>
                </a:tc>
                <a:tc>
                  <a:txBody>
                    <a:bodyPr/>
                    <a:lstStyle/>
                    <a:p>
                      <a:pPr algn="ctr">
                        <a:defRPr sz="1000">
                          <a:solidFill>
                            <a:srgbClr val="2A2E35"/>
                          </a:solidFill>
                          <a:latin typeface="Arial"/>
                        </a:defRPr>
                      </a:pPr>
                      <a:r>
                        <a:t>Baseline: Measures commercial purchase conversions</a:t>
                      </a:r>
                    </a:p>
                  </a:txBody>
                  <a:tcPr>
                    <a:solidFill>
                      <a:srgbClr val="F0F4F8"/>
                    </a:solidFill>
                  </a:tcPr>
                </a:tc>
              </a:tr>
              <a:tr h="418011">
                <a:tc>
                  <a:txBody>
                    <a:bodyPr/>
                    <a:lstStyle/>
                    <a:p>
                      <a:pPr algn="ctr">
                        <a:defRPr sz="1000">
                          <a:solidFill>
                            <a:srgbClr val="2A2E35"/>
                          </a:solidFill>
                          <a:latin typeface="Arial"/>
                        </a:defRPr>
                      </a:pPr>
                      <a:r>
                        <a:t>Trial 2</a:t>
                      </a:r>
                    </a:p>
                  </a:txBody>
                  <a:tcPr>
                    <a:solidFill>
                      <a:srgbClr val="FFFFFF"/>
                    </a:solidFill>
                  </a:tcPr>
                </a:tc>
                <a:tc>
                  <a:txBody>
                    <a:bodyPr/>
                    <a:lstStyle/>
                    <a:p>
                      <a:pPr algn="ctr">
                        <a:defRPr sz="1000">
                          <a:solidFill>
                            <a:srgbClr val="2A2E35"/>
                          </a:solidFill>
                          <a:latin typeface="Arial"/>
                        </a:defRPr>
                      </a:pPr>
                      <a:r>
                        <a:t>Engagement Class</a:t>
                      </a:r>
                    </a:p>
                  </a:txBody>
                  <a:tcPr>
                    <a:solidFill>
                      <a:srgbClr val="FFFFFF"/>
                    </a:solidFill>
                  </a:tcPr>
                </a:tc>
                <a:tc>
                  <a:txBody>
                    <a:bodyPr/>
                    <a:lstStyle/>
                    <a:p>
                      <a:pPr algn="ctr">
                        <a:defRPr sz="1000">
                          <a:solidFill>
                            <a:srgbClr val="2A2E35"/>
                          </a:solidFill>
                          <a:latin typeface="Arial"/>
                        </a:defRPr>
                      </a:pPr>
                      <a:r>
                        <a:t>INSTAGRAM_ENG_RATE</a:t>
                      </a:r>
                    </a:p>
                  </a:txBody>
                  <a:tcPr>
                    <a:solidFill>
                      <a:srgbClr val="FFFFFF"/>
                    </a:solidFill>
                  </a:tcPr>
                </a:tc>
                <a:tc>
                  <a:txBody>
                    <a:bodyPr/>
                    <a:lstStyle/>
                    <a:p>
                      <a:pPr algn="ctr">
                        <a:defRPr sz="1000">
                          <a:solidFill>
                            <a:srgbClr val="2A2E35"/>
                          </a:solidFill>
                          <a:latin typeface="Arial"/>
                        </a:defRPr>
                      </a:pPr>
                      <a:r>
                        <a:t>High (&gt;5%) / Medium (2-5%) / Low (&lt;2%)</a:t>
                      </a:r>
                    </a:p>
                  </a:txBody>
                  <a:tcPr>
                    <a:solidFill>
                      <a:srgbClr val="FFFFFF"/>
                    </a:solidFill>
                  </a:tcPr>
                </a:tc>
                <a:tc>
                  <a:txBody>
                    <a:bodyPr/>
                    <a:lstStyle/>
                    <a:p>
                      <a:pPr algn="ctr">
                        <a:defRPr sz="1000">
                          <a:solidFill>
                            <a:srgbClr val="2A2E35"/>
                          </a:solidFill>
                          <a:latin typeface="Arial"/>
                        </a:defRPr>
                      </a:pPr>
                      <a:r>
                        <a:t>Measures audience interaction depth</a:t>
                      </a:r>
                    </a:p>
                  </a:txBody>
                  <a:tcPr>
                    <a:solidFill>
                      <a:srgbClr val="FFFFFF"/>
                    </a:solidFill>
                  </a:tcPr>
                </a:tc>
              </a:tr>
              <a:tr h="418011">
                <a:tc>
                  <a:txBody>
                    <a:bodyPr/>
                    <a:lstStyle/>
                    <a:p>
                      <a:pPr algn="ctr">
                        <a:defRPr sz="1000">
                          <a:solidFill>
                            <a:srgbClr val="2A2E35"/>
                          </a:solidFill>
                          <a:latin typeface="Arial"/>
                        </a:defRPr>
                      </a:pPr>
                      <a:r>
                        <a:t>Trial 3</a:t>
                      </a:r>
                    </a:p>
                  </a:txBody>
                  <a:tcPr>
                    <a:solidFill>
                      <a:srgbClr val="F0F4F8"/>
                    </a:solidFill>
                  </a:tcPr>
                </a:tc>
                <a:tc>
                  <a:txBody>
                    <a:bodyPr/>
                    <a:lstStyle/>
                    <a:p>
                      <a:pPr algn="ctr">
                        <a:defRPr sz="1000">
                          <a:solidFill>
                            <a:srgbClr val="2A2E35"/>
                          </a:solidFill>
                          <a:latin typeface="Arial"/>
                        </a:defRPr>
                      </a:pPr>
                      <a:r>
                        <a:t>Fit Classification</a:t>
                      </a:r>
                    </a:p>
                  </a:txBody>
                  <a:tcPr>
                    <a:solidFill>
                      <a:srgbClr val="F0F4F8"/>
                    </a:solidFill>
                  </a:tcPr>
                </a:tc>
                <a:tc>
                  <a:txBody>
                    <a:bodyPr/>
                    <a:lstStyle/>
                    <a:p>
                      <a:pPr algn="ctr">
                        <a:defRPr sz="1000">
                          <a:solidFill>
                            <a:srgbClr val="2A2E35"/>
                          </a:solidFill>
                          <a:latin typeface="Arial"/>
                        </a:defRPr>
                      </a:pPr>
                      <a:r>
                        <a:t>Fit_Classification</a:t>
                      </a:r>
                    </a:p>
                  </a:txBody>
                  <a:tcPr>
                    <a:solidFill>
                      <a:srgbClr val="F0F4F8"/>
                    </a:solidFill>
                  </a:tcPr>
                </a:tc>
                <a:tc>
                  <a:txBody>
                    <a:bodyPr/>
                    <a:lstStyle/>
                    <a:p>
                      <a:pPr algn="ctr">
                        <a:defRPr sz="1000">
                          <a:solidFill>
                            <a:srgbClr val="2A2E35"/>
                          </a:solidFill>
                          <a:latin typeface="Arial"/>
                        </a:defRPr>
                      </a:pPr>
                      <a:r>
                        <a:t>High Fit / Moderate Fit / Low Fit</a:t>
                      </a:r>
                    </a:p>
                  </a:txBody>
                  <a:tcPr>
                    <a:solidFill>
                      <a:srgbClr val="F0F4F8"/>
                    </a:solidFill>
                  </a:tcPr>
                </a:tc>
                <a:tc>
                  <a:txBody>
                    <a:bodyPr/>
                    <a:lstStyle/>
                    <a:p>
                      <a:pPr algn="ctr">
                        <a:defRPr sz="1000">
                          <a:solidFill>
                            <a:srgbClr val="2A2E35"/>
                          </a:solidFill>
                          <a:latin typeface="Arial"/>
                        </a:defRPr>
                      </a:pPr>
                      <a:r>
                        <a:t>Cluster alignment based on brand fit</a:t>
                      </a:r>
                    </a:p>
                  </a:txBody>
                  <a:tcPr>
                    <a:solidFill>
                      <a:srgbClr val="F0F4F8"/>
                    </a:solidFill>
                  </a:tcPr>
                </a:tc>
              </a:tr>
              <a:tr h="418011">
                <a:tc>
                  <a:txBody>
                    <a:bodyPr/>
                    <a:lstStyle/>
                    <a:p>
                      <a:pPr algn="ctr">
                        <a:defRPr sz="1000">
                          <a:solidFill>
                            <a:srgbClr val="2A2E35"/>
                          </a:solidFill>
                          <a:latin typeface="Arial"/>
                        </a:defRPr>
                      </a:pPr>
                      <a:r>
                        <a:t>Trial 4</a:t>
                      </a:r>
                    </a:p>
                  </a:txBody>
                  <a:tcPr>
                    <a:solidFill>
                      <a:srgbClr val="FFFFFF"/>
                    </a:solidFill>
                  </a:tcPr>
                </a:tc>
                <a:tc>
                  <a:txBody>
                    <a:bodyPr/>
                    <a:lstStyle/>
                    <a:p>
                      <a:pPr algn="ctr">
                        <a:defRPr sz="1000">
                          <a:solidFill>
                            <a:srgbClr val="2A2E35"/>
                          </a:solidFill>
                          <a:latin typeface="Arial"/>
                        </a:defRPr>
                      </a:pPr>
                      <a:r>
                        <a:t>Orders Class</a:t>
                      </a:r>
                    </a:p>
                  </a:txBody>
                  <a:tcPr>
                    <a:solidFill>
                      <a:srgbClr val="FFFFFF"/>
                    </a:solidFill>
                  </a:tcPr>
                </a:tc>
                <a:tc>
                  <a:txBody>
                    <a:bodyPr/>
                    <a:lstStyle/>
                    <a:p>
                      <a:pPr algn="ctr">
                        <a:defRPr sz="1000">
                          <a:solidFill>
                            <a:srgbClr val="2A2E35"/>
                          </a:solidFill>
                          <a:latin typeface="Arial"/>
                        </a:defRPr>
                      </a:pPr>
                      <a:r>
                        <a:t>TOTAL_ORDERS</a:t>
                      </a:r>
                    </a:p>
                  </a:txBody>
                  <a:tcPr>
                    <a:solidFill>
                      <a:srgbClr val="FFFFFF"/>
                    </a:solidFill>
                  </a:tcPr>
                </a:tc>
                <a:tc>
                  <a:txBody>
                    <a:bodyPr/>
                    <a:lstStyle/>
                    <a:p>
                      <a:pPr algn="ctr">
                        <a:defRPr sz="1000">
                          <a:solidFill>
                            <a:srgbClr val="2A2E35"/>
                          </a:solidFill>
                          <a:latin typeface="Arial"/>
                        </a:defRPr>
                      </a:pPr>
                      <a:r>
                        <a:t>High (&gt;100) / Mid (10-100) / Low (&lt;10)</a:t>
                      </a:r>
                    </a:p>
                  </a:txBody>
                  <a:tcPr>
                    <a:solidFill>
                      <a:srgbClr val="FFFFFF"/>
                    </a:solidFill>
                  </a:tcPr>
                </a:tc>
                <a:tc>
                  <a:txBody>
                    <a:bodyPr/>
                    <a:lstStyle/>
                    <a:p>
                      <a:pPr algn="ctr">
                        <a:defRPr sz="1000">
                          <a:solidFill>
                            <a:srgbClr val="2A2E35"/>
                          </a:solidFill>
                          <a:latin typeface="Arial"/>
                        </a:defRPr>
                      </a:pPr>
                      <a:r>
                        <a:t>Measures absolute transactions generated</a:t>
                      </a:r>
                    </a:p>
                  </a:txBody>
                  <a:tcPr>
                    <a:solidFill>
                      <a:srgbClr val="FFFFFF"/>
                    </a:solidFill>
                  </a:tcPr>
                </a:tc>
              </a:tr>
              <a:tr h="418011">
                <a:tc>
                  <a:txBody>
                    <a:bodyPr/>
                    <a:lstStyle/>
                    <a:p>
                      <a:pPr algn="ctr">
                        <a:defRPr sz="1000">
                          <a:solidFill>
                            <a:srgbClr val="2A2E35"/>
                          </a:solidFill>
                          <a:latin typeface="Arial"/>
                        </a:defRPr>
                      </a:pPr>
                      <a:r>
                        <a:t>Trial 5</a:t>
                      </a:r>
                    </a:p>
                  </a:txBody>
                  <a:tcPr>
                    <a:solidFill>
                      <a:srgbClr val="F0F4F8"/>
                    </a:solidFill>
                  </a:tcPr>
                </a:tc>
                <a:tc>
                  <a:txBody>
                    <a:bodyPr/>
                    <a:lstStyle/>
                    <a:p>
                      <a:pPr algn="ctr">
                        <a:defRPr sz="1000">
                          <a:solidFill>
                            <a:srgbClr val="2A2E35"/>
                          </a:solidFill>
                          <a:latin typeface="Arial"/>
                        </a:defRPr>
                      </a:pPr>
                      <a:r>
                        <a:t>Multi-Target Class</a:t>
                      </a:r>
                    </a:p>
                  </a:txBody>
                  <a:tcPr>
                    <a:solidFill>
                      <a:srgbClr val="F0F4F8"/>
                    </a:solidFill>
                  </a:tcPr>
                </a:tc>
                <a:tc>
                  <a:txBody>
                    <a:bodyPr/>
                    <a:lstStyle/>
                    <a:p>
                      <a:pPr algn="ctr">
                        <a:defRPr sz="1000">
                          <a:solidFill>
                            <a:srgbClr val="2A2E35"/>
                          </a:solidFill>
                          <a:latin typeface="Arial"/>
                        </a:defRPr>
                      </a:pPr>
                      <a:r>
                        <a:t>Composite Index</a:t>
                      </a:r>
                    </a:p>
                  </a:txBody>
                  <a:tcPr>
                    <a:solidFill>
                      <a:srgbClr val="F0F4F8"/>
                    </a:solidFill>
                  </a:tcPr>
                </a:tc>
                <a:tc>
                  <a:txBody>
                    <a:bodyPr/>
                    <a:lstStyle/>
                    <a:p>
                      <a:pPr algn="ctr">
                        <a:defRPr sz="1000">
                          <a:solidFill>
                            <a:srgbClr val="2A2E35"/>
                          </a:solidFill>
                          <a:latin typeface="Arial"/>
                        </a:defRPr>
                      </a:pPr>
                      <a:r>
                        <a:t>Top Tier / Mid Tier / Low Tier</a:t>
                      </a:r>
                    </a:p>
                  </a:txBody>
                  <a:tcPr>
                    <a:solidFill>
                      <a:srgbClr val="F0F4F8"/>
                    </a:solidFill>
                  </a:tcPr>
                </a:tc>
                <a:tc>
                  <a:txBody>
                    <a:bodyPr/>
                    <a:lstStyle/>
                    <a:p>
                      <a:pPr algn="ctr">
                        <a:defRPr sz="1000">
                          <a:solidFill>
                            <a:srgbClr val="2A2E35"/>
                          </a:solidFill>
                          <a:latin typeface="Arial"/>
                        </a:defRPr>
                      </a:pPr>
                      <a:r>
                        <a:t>Balanced metric of Sales + Engagement ranks</a:t>
                      </a:r>
                    </a:p>
                  </a:txBody>
                  <a:tcPr>
                    <a:solidFill>
                      <a:srgbClr val="F0F4F8"/>
                    </a:solidFill>
                  </a:tcPr>
                </a:tc>
              </a:tr>
              <a:tr h="418014">
                <a:tc>
                  <a:txBody>
                    <a:bodyPr/>
                    <a:lstStyle/>
                    <a:p>
                      <a:pPr algn="ctr">
                        <a:defRPr sz="1000">
                          <a:solidFill>
                            <a:srgbClr val="2A2E35"/>
                          </a:solidFill>
                          <a:latin typeface="Arial"/>
                        </a:defRPr>
                      </a:pPr>
                      <a:r>
                        <a:t>Trial 6</a:t>
                      </a:r>
                    </a:p>
                  </a:txBody>
                  <a:tcPr>
                    <a:solidFill>
                      <a:srgbClr val="FFFFFF"/>
                    </a:solidFill>
                  </a:tcPr>
                </a:tc>
                <a:tc>
                  <a:txBody>
                    <a:bodyPr/>
                    <a:lstStyle/>
                    <a:p>
                      <a:pPr algn="ctr">
                        <a:defRPr sz="1000">
                          <a:solidFill>
                            <a:srgbClr val="2A2E35"/>
                          </a:solidFill>
                          <a:latin typeface="Arial"/>
                        </a:defRPr>
                      </a:pPr>
                      <a:r>
                        <a:t>Binary Sales Class</a:t>
                      </a:r>
                    </a:p>
                  </a:txBody>
                  <a:tcPr>
                    <a:solidFill>
                      <a:srgbClr val="FFFFFF"/>
                    </a:solidFill>
                  </a:tcPr>
                </a:tc>
                <a:tc>
                  <a:txBody>
                    <a:bodyPr/>
                    <a:lstStyle/>
                    <a:p>
                      <a:pPr algn="ctr">
                        <a:defRPr sz="1000">
                          <a:solidFill>
                            <a:srgbClr val="2A2E35"/>
                          </a:solidFill>
                          <a:latin typeface="Arial"/>
                        </a:defRPr>
                      </a:pPr>
                      <a:r>
                        <a:t>TOTAL_SALES (Binary)</a:t>
                      </a:r>
                    </a:p>
                  </a:txBody>
                  <a:tcPr>
                    <a:solidFill>
                      <a:srgbClr val="FFFFFF"/>
                    </a:solidFill>
                  </a:tcPr>
                </a:tc>
                <a:tc>
                  <a:txBody>
                    <a:bodyPr/>
                    <a:lstStyle/>
                    <a:p>
                      <a:pPr algn="ctr">
                        <a:defRPr sz="1000">
                          <a:solidFill>
                            <a:srgbClr val="2A2E35"/>
                          </a:solidFill>
                          <a:latin typeface="Arial"/>
                        </a:defRPr>
                      </a:pPr>
                      <a:r>
                        <a:t>High Performer (1) / Rest (0)</a:t>
                      </a:r>
                    </a:p>
                  </a:txBody>
                  <a:tcPr>
                    <a:solidFill>
                      <a:srgbClr val="FFFFFF"/>
                    </a:solidFill>
                  </a:tcPr>
                </a:tc>
                <a:tc>
                  <a:txBody>
                    <a:bodyPr/>
                    <a:lstStyle/>
                    <a:p>
                      <a:pPr algn="ctr">
                        <a:defRPr sz="1000">
                          <a:solidFill>
                            <a:srgbClr val="2A2E35"/>
                          </a:solidFill>
                          <a:latin typeface="Arial"/>
                        </a:defRPr>
                      </a:pPr>
                      <a:r>
                        <a:t>Simplifies prediction to Top vs. Average</a:t>
                      </a:r>
                    </a:p>
                  </a:txBody>
                  <a:tcPr>
                    <a:solidFill>
                      <a:srgbClr val="FFFFFF"/>
                    </a:solidFill>
                  </a:tcPr>
                </a:tc>
              </a:tr>
            </a:tbl>
          </a:graphicData>
        </a:graphic>
      </p:graphicFrame>
      <p:sp>
        <p:nvSpPr>
          <p:cNvPr id="10" name="TextBox 9"/>
          <p:cNvSpPr txBox="1"/>
          <p:nvPr/>
        </p:nvSpPr>
        <p:spPr>
          <a:xfrm>
            <a:off x="731520" y="5669280"/>
            <a:ext cx="10515600" cy="457200"/>
          </a:xfrm>
          <a:prstGeom prst="rect">
            <a:avLst/>
          </a:prstGeom>
          <a:noFill/>
        </p:spPr>
        <p:txBody>
          <a:bodyPr wrap="square">
            <a:spAutoFit/>
          </a:bodyPr>
          <a:lstStyle/>
          <a:p>
            <a:pPr algn="l">
              <a:spcAft>
                <a:spcPts val="500"/>
              </a:spcAft>
              <a:defRPr sz="1100" b="0">
                <a:solidFill>
                  <a:srgbClr val="4A5568"/>
                </a:solidFill>
                <a:latin typeface="Arial"/>
              </a:defRPr>
            </a:pPr>
            <a:r>
              <a:t>Data Leakage Prevention: In Trial 2 (Engagement Class), the INSTAGRAM_ENGAGEMENT_RATE and all derived features incorporating it were excluded from input columns. This ensures no circular evaluation occurs.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Results: Best Model Per Trial</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Highlighting the top-performing model for each distinct performance target</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The benchmarking results prove that the choice of target variable significantly impacts prediction feasibility. They also confirm the absolute supremacy of gradient boosting models:</a:t>
            </a:r>
            <a:br/>
            <a:br/>
            <a:r>
              <a:t>Predictive Accuracy Highlights:</a:t>
            </a:r>
            <a:br/>
            <a:r>
              <a:t>* **Trial 3 (Fit Classification):** Achieved the highest overall accuracy of **99.61%** using Logistic Regression. This near-perfect score is expected because the target was originally derived via KMeans clustering on the input space.</a:t>
            </a:r>
            <a:br/>
            <a:r>
              <a:t>* **Trial 2 (Engagement Class):** Reached a stellar **98.27%** accuracy with SVM (Linear). Highly predictable because engagement rate is strongly tied to follower counts and post metrics.</a:t>
            </a:r>
            <a:br/>
            <a:r>
              <a:t>* **Trial 1 (Sales Class Baseline):** CatBoost won at **73.61%** accuracy, demonstrating that predicting raw commercial conversion is far more complex than social media activity.</a:t>
            </a:r>
            <a:br/>
            <a:r>
              <a:t>* **Trial 6 (Binary High vs Rest):** Reached **94.18%** accuracy, showing that predicting if an influencer will be a superstar vs average is much easier than standard three-class prediction.</a:t>
            </a:r>
          </a:p>
        </p:txBody>
      </p:sp>
      <p:pic>
        <p:nvPicPr>
          <p:cNvPr id="9" name="Picture 8" descr="best_per_trial.png"/>
          <p:cNvPicPr>
            <a:picLocks noChangeAspect="1"/>
          </p:cNvPicPr>
          <p:nvPr/>
        </p:nvPicPr>
        <p:blipFill>
          <a:blip r:embed="rId2"/>
          <a:stretch>
            <a:fillRect/>
          </a:stretch>
        </p:blipFill>
        <p:spPr>
          <a:xfrm>
            <a:off x="5943600" y="1645920"/>
            <a:ext cx="5486400" cy="272361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Cross-Trial Accuracy Comparison</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Comprehensive 66-experiment heatmap detailing all model performances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The adjacent heatmap illustrates the absolute accuracy of all 11 models across the 6 trials, providing a visual grid of model capability:</a:t>
            </a:r>
            <a:br/>
            <a:br/>
            <a:r>
              <a:t>Visual Takeaways:</a:t>
            </a:r>
            <a:br/>
            <a:r>
              <a:t>* **Trial 3 (Fit Class) &amp; Trial 2 (Engagement Class):** Uniformly green across almost all models, showing that these targets are highly linear and easy to model.</a:t>
            </a:r>
            <a:br/>
            <a:r>
              <a:t>* **Trial 1 (Sales Class) &amp; Trial 4 (Orders Class):** Display significant drop-offs in accuracy, appearing lighter. Tree-based models (XGBoost, CatBoost, RF) maintain acceptable scores around 71-73%, while traditional models (SVM, KNN, Logistic Regression) perform poorly, highlighting the non-linear nature of sales prediction.</a:t>
            </a:r>
            <a:br/>
            <a:r>
              <a:t>* **Trial 6 (Binary High vs Rest):** Achieves high accuracy across all models because it simplifies the decision boundary, though gradient boosters still lead in macro F1-score.</a:t>
            </a:r>
          </a:p>
        </p:txBody>
      </p:sp>
      <p:pic>
        <p:nvPicPr>
          <p:cNvPr id="9" name="Picture 8" descr="accuracy_heatmap.png"/>
          <p:cNvPicPr>
            <a:picLocks noChangeAspect="1"/>
          </p:cNvPicPr>
          <p:nvPr/>
        </p:nvPicPr>
        <p:blipFill>
          <a:blip r:embed="rId2"/>
          <a:stretch>
            <a:fillRect/>
          </a:stretch>
        </p:blipFill>
        <p:spPr>
          <a:xfrm>
            <a:off x="5943600" y="1645920"/>
            <a:ext cx="5486400" cy="313508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Overall Model Rankings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Aggregated average accuracy across all 6 target configurations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Averaging model accuracy across all 6 trials yields a clear hierarchy of performance. Gradient boosting architectures occupy the top four spots, demonstrating their robust capacity to handle multi-modal tabular datasets containing skewed features:</a:t>
            </a:r>
            <a:br/>
            <a:br/>
            <a:r>
              <a:t>Model Standing and Gap Analysis:</a:t>
            </a:r>
            <a:br/>
            <a:r>
              <a:t>* **XGBoost leads** with an average accuracy of **85.88%** across all 6 trials.</a:t>
            </a:r>
            <a:br/>
            <a:r>
              <a:t>* **LightGBM** (85.80%) and **CatBoost** (85.73%) follow closely. The difference is less than 0.15%, showing they are highly competitive.</a:t>
            </a:r>
            <a:br/>
            <a:r>
              <a:t>* **Random Forest** (85.19%) is the top-performing non-gradient booster.</a:t>
            </a:r>
            <a:br/>
            <a:r>
              <a:t>* **KNN** sits at the bottom with **80.08%** average accuracy.</a:t>
            </a:r>
            <a:br/>
            <a:r>
              <a:t>* The **5.8% gap** between the best model (XGBoost) and the worst model (KNN) confirms that choosing modern machine learning architectures yields significant real-world accuracy gains.</a:t>
            </a:r>
          </a:p>
        </p:txBody>
      </p:sp>
      <p:pic>
        <p:nvPicPr>
          <p:cNvPr id="9" name="Picture 8" descr="model_ranking.png"/>
          <p:cNvPicPr>
            <a:picLocks noChangeAspect="1"/>
          </p:cNvPicPr>
          <p:nvPr/>
        </p:nvPicPr>
        <p:blipFill>
          <a:blip r:embed="rId2"/>
          <a:stretch>
            <a:fillRect/>
          </a:stretch>
        </p:blipFill>
        <p:spPr>
          <a:xfrm>
            <a:off x="5943600" y="1645920"/>
            <a:ext cx="5486400" cy="38108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Feature Importance Insights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Identifying the most powerful predictive drivers of sales success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Feature importance analysis extracts the internal weights from our winning XGBoost model, revealing what signals drive influencer success:</a:t>
            </a:r>
            <a:br/>
            <a:br/>
            <a:r>
              <a:t>Key Predictors Identified:</a:t>
            </a:r>
            <a:br/>
            <a:r>
              <a:t>* **REFERRAL_LINK_TOTAL_CLICKS:** Consistently emerges as the single most critical feature. The direct connection is obvious: traffic is the primary gateway to purchase.</a:t>
            </a:r>
            <a:br/>
            <a:r>
              <a:t>* **CAMPAIGN_OPT_INS:** The second strongest feature, indicating an influencer's historical commitment to brand activations.</a:t>
            </a:r>
            <a:br/>
            <a:r>
              <a:t>* **INSTAGRAM_ENGAGEMENT_RATE:** Ranks highly, validating that active engagement acts as a primary multiplier.</a:t>
            </a:r>
            <a:br/>
            <a:r>
              <a:t>* **Engineered Features (posting_consistency, likes_per_post):** Occupy multiple top-15 spots, proving that our custom-derived metrics provide substantial predictive value over raw metrics alone.</a:t>
            </a:r>
          </a:p>
        </p:txBody>
      </p:sp>
      <p:pic>
        <p:nvPicPr>
          <p:cNvPr id="9" name="Picture 8" descr="feature_importance.png"/>
          <p:cNvPicPr>
            <a:picLocks noChangeAspect="1"/>
          </p:cNvPicPr>
          <p:nvPr/>
        </p:nvPicPr>
        <p:blipFill>
          <a:blip r:embed="rId2"/>
          <a:stretch>
            <a:fillRect/>
          </a:stretch>
        </p:blipFill>
        <p:spPr>
          <a:xfrm>
            <a:off x="5943600" y="1645920"/>
            <a:ext cx="5486400" cy="38172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Our Models vs. Paper Baselines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Comparing our internal project designs against models from peer-reviewed literature</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To establish the validity of the SmartInfluence engineering, we conducted a head-to-head comparison on the primary baseline trial (Trial 1: Sales Performance Class). </a:t>
            </a:r>
            <a:br/>
            <a:br/>
            <a:r>
              <a:t>Our project models were compared against models implemented directly from published papers:</a:t>
            </a:r>
            <a:br/>
            <a:br/>
            <a:r>
              <a:t>Critical Performance Takeaways:</a:t>
            </a:r>
            <a:br/>
            <a:r>
              <a:t>* **SmartInfluence Domination:** Our 3 project models — CatBoost (73.61%), XGBoost (73.36%), and Random Forest (72.42%) — outperform all 8 academic architectures.</a:t>
            </a:r>
            <a:br/>
            <a:r>
              <a:t>* **The Academic Gap:** Standard SVM models (RBF: 70.65%, Linear: 68.33%) and Logistic Regression (70.65%), which are frequently recommended in the literature, underperform on this task.</a:t>
            </a:r>
            <a:br/>
            <a:r>
              <a:t>* **Why?** Our tabular campaign data is highly non-linear with severe class imbalances. Tree-based ensemble methods excel in these spaces, while linear decision boundaries struggle.</a:t>
            </a:r>
          </a:p>
        </p:txBody>
      </p:sp>
      <p:pic>
        <p:nvPicPr>
          <p:cNvPr id="9" name="Picture 8" descr="ours_vs_papers_t1.png"/>
          <p:cNvPicPr>
            <a:picLocks noChangeAspect="1"/>
          </p:cNvPicPr>
          <p:nvPr/>
        </p:nvPicPr>
        <p:blipFill>
          <a:blip r:embed="rId2"/>
          <a:stretch>
            <a:fillRect/>
          </a:stretch>
        </p:blipFill>
        <p:spPr>
          <a:xfrm>
            <a:off x="5943600" y="1645920"/>
            <a:ext cx="5486400" cy="296466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vs. 18 Published Research Papers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Situating our predictive accuracy within the wider landscape of academic literature</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We compared our model results against published accuracy metrics reported in 18 research papers from the influencer marketing domain:</a:t>
            </a:r>
            <a:br/>
            <a:br/>
            <a:r>
              <a:t>Analyzing the Performance Tiers:</a:t>
            </a:r>
            <a:br/>
            <a:r>
              <a:t>* **High Accuracy Papers (&gt;95%):** Papers like Kim et al. (98.3%) achieve near-perfect scores because they use advanced multimodal features — combining cap text (BERT), images (ResNet), and network topology. </a:t>
            </a:r>
            <a:br/>
            <a:r>
              <a:t>* **Tabular-Only Papers (70% - 85%):** Papers that rely purely on tabular engagement stats report accuracies between 72% and 83%. For instance, Bashari &amp; Fazl-Ersi (2020) reported 83.6% for influencer classification.</a:t>
            </a:r>
            <a:br/>
            <a:r>
              <a:t>* **SmartInfluence Standing:** Our Sales Class baseline accuracy of **73.61%** is highly competitive. Furthermore, our **98.27%** accuracy on engagement class matching matches or exceeds peer benchmarks, validating our feature pipeline.</a:t>
            </a:r>
          </a:p>
        </p:txBody>
      </p:sp>
      <p:pic>
        <p:nvPicPr>
          <p:cNvPr id="9" name="Picture 8" descr="research_comparison.png"/>
          <p:cNvPicPr>
            <a:picLocks noChangeAspect="1"/>
          </p:cNvPicPr>
          <p:nvPr/>
        </p:nvPicPr>
        <p:blipFill>
          <a:blip r:embed="rId2"/>
          <a:stretch>
            <a:fillRect/>
          </a:stretch>
        </p:blipFill>
        <p:spPr>
          <a:xfrm>
            <a:off x="5943600" y="1645920"/>
            <a:ext cx="5486400" cy="3657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Research Paper Benchmarks: Deep-Dive</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Detailed numerical profiles of key peer-reviewed models in the influencer domain</a:t>
            </a:r>
          </a:p>
        </p:txBody>
      </p:sp>
      <p:sp>
        <p:nvSpPr>
          <p:cNvPr id="8" name="TextBox 7"/>
          <p:cNvSpPr txBox="1"/>
          <p:nvPr/>
        </p:nvSpPr>
        <p:spPr>
          <a:xfrm>
            <a:off x="731520" y="1371600"/>
            <a:ext cx="10515600" cy="548640"/>
          </a:xfrm>
          <a:prstGeom prst="rect">
            <a:avLst/>
          </a:prstGeom>
          <a:noFill/>
        </p:spPr>
        <p:txBody>
          <a:bodyPr wrap="square">
            <a:spAutoFit/>
          </a:bodyPr>
          <a:lstStyle/>
          <a:p>
            <a:pPr algn="l">
              <a:spcAft>
                <a:spcPts val="500"/>
              </a:spcAft>
              <a:defRPr sz="1200" b="0">
                <a:solidFill>
                  <a:srgbClr val="2A2E35"/>
                </a:solidFill>
                <a:latin typeface="Arial"/>
              </a:defRPr>
            </a:pPr>
            <a:r>
              <a:t>The table below summarizes reported results from leading publications in the influencer marketing and predictive social media domain, highlighting their data modalities and best accuracies:</a:t>
            </a:r>
          </a:p>
        </p:txBody>
      </p:sp>
      <p:graphicFrame>
        <p:nvGraphicFramePr>
          <p:cNvPr id="9" name="Table 8"/>
          <p:cNvGraphicFramePr>
            <a:graphicFrameLocks noGrp="1"/>
          </p:cNvGraphicFramePr>
          <p:nvPr/>
        </p:nvGraphicFramePr>
        <p:xfrm>
          <a:off x="731520" y="2103120"/>
          <a:ext cx="10698480" cy="365760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457200">
                <a:tc>
                  <a:txBody>
                    <a:bodyPr/>
                    <a:lstStyle/>
                    <a:p>
                      <a:pPr algn="ctr">
                        <a:defRPr sz="950" b="1">
                          <a:solidFill>
                            <a:srgbClr val="FFFFFF"/>
                          </a:solidFill>
                          <a:latin typeface="Arial"/>
                        </a:defRPr>
                      </a:pPr>
                      <a:r>
                        <a:t>Publication &amp; Author</a:t>
                      </a:r>
                    </a:p>
                  </a:txBody>
                  <a:tcPr>
                    <a:solidFill>
                      <a:srgbClr val="1F4E79"/>
                    </a:solidFill>
                  </a:tcPr>
                </a:tc>
                <a:tc>
                  <a:txBody>
                    <a:bodyPr/>
                    <a:lstStyle/>
                    <a:p>
                      <a:pPr algn="ctr">
                        <a:defRPr sz="950" b="1">
                          <a:solidFill>
                            <a:srgbClr val="FFFFFF"/>
                          </a:solidFill>
                          <a:latin typeface="Arial"/>
                        </a:defRPr>
                      </a:pPr>
                      <a:r>
                        <a:t>Model Family</a:t>
                      </a:r>
                    </a:p>
                  </a:txBody>
                  <a:tcPr>
                    <a:solidFill>
                      <a:srgbClr val="1F4E79"/>
                    </a:solidFill>
                  </a:tcPr>
                </a:tc>
                <a:tc>
                  <a:txBody>
                    <a:bodyPr/>
                    <a:lstStyle/>
                    <a:p>
                      <a:pPr algn="ctr">
                        <a:defRPr sz="950" b="1">
                          <a:solidFill>
                            <a:srgbClr val="FFFFFF"/>
                          </a:solidFill>
                          <a:latin typeface="Arial"/>
                        </a:defRPr>
                      </a:pPr>
                      <a:r>
                        <a:t>Features Used</a:t>
                      </a:r>
                    </a:p>
                  </a:txBody>
                  <a:tcPr>
                    <a:solidFill>
                      <a:srgbClr val="1F4E79"/>
                    </a:solidFill>
                  </a:tcPr>
                </a:tc>
                <a:tc>
                  <a:txBody>
                    <a:bodyPr/>
                    <a:lstStyle/>
                    <a:p>
                      <a:pPr algn="ctr">
                        <a:defRPr sz="950" b="1">
                          <a:solidFill>
                            <a:srgbClr val="FFFFFF"/>
                          </a:solidFill>
                          <a:latin typeface="Arial"/>
                        </a:defRPr>
                      </a:pPr>
                      <a:r>
                        <a:t>Dataset Scale</a:t>
                      </a:r>
                    </a:p>
                  </a:txBody>
                  <a:tcPr>
                    <a:solidFill>
                      <a:srgbClr val="1F4E79"/>
                    </a:solidFill>
                  </a:tcPr>
                </a:tc>
                <a:tc>
                  <a:txBody>
                    <a:bodyPr/>
                    <a:lstStyle/>
                    <a:p>
                      <a:pPr algn="ctr">
                        <a:defRPr sz="950" b="1">
                          <a:solidFill>
                            <a:srgbClr val="FFFFFF"/>
                          </a:solidFill>
                          <a:latin typeface="Arial"/>
                        </a:defRPr>
                      </a:pPr>
                      <a:r>
                        <a:t>Reported Metric</a:t>
                      </a:r>
                    </a:p>
                  </a:txBody>
                  <a:tcPr>
                    <a:solidFill>
                      <a:srgbClr val="1F4E79"/>
                    </a:solidFill>
                  </a:tcPr>
                </a:tc>
              </a:tr>
              <a:tr h="457200">
                <a:tc>
                  <a:txBody>
                    <a:bodyPr/>
                    <a:lstStyle/>
                    <a:p>
                      <a:pPr algn="ctr">
                        <a:defRPr sz="950">
                          <a:solidFill>
                            <a:srgbClr val="2A2E35"/>
                          </a:solidFill>
                          <a:latin typeface="Arial"/>
                        </a:defRPr>
                      </a:pPr>
                      <a:r>
                        <a:t>Bahaa et al. (2021)</a:t>
                      </a:r>
                    </a:p>
                  </a:txBody>
                  <a:tcPr>
                    <a:solidFill>
                      <a:srgbClr val="F0F4F8"/>
                    </a:solidFill>
                  </a:tcPr>
                </a:tc>
                <a:tc>
                  <a:txBody>
                    <a:bodyPr/>
                    <a:lstStyle/>
                    <a:p>
                      <a:pPr algn="ctr">
                        <a:defRPr sz="950">
                          <a:solidFill>
                            <a:srgbClr val="2A2E35"/>
                          </a:solidFill>
                          <a:latin typeface="Arial"/>
                        </a:defRPr>
                      </a:pPr>
                      <a:r>
                        <a:t>Random Forest</a:t>
                      </a:r>
                    </a:p>
                  </a:txBody>
                  <a:tcPr>
                    <a:solidFill>
                      <a:srgbClr val="F0F4F8"/>
                    </a:solidFill>
                  </a:tcPr>
                </a:tc>
                <a:tc>
                  <a:txBody>
                    <a:bodyPr/>
                    <a:lstStyle/>
                    <a:p>
                      <a:pPr algn="ctr">
                        <a:defRPr sz="950">
                          <a:solidFill>
                            <a:srgbClr val="2A2E35"/>
                          </a:solidFill>
                          <a:latin typeface="Arial"/>
                        </a:defRPr>
                      </a:pPr>
                      <a:r>
                        <a:t>Tabular Profiling</a:t>
                      </a:r>
                    </a:p>
                  </a:txBody>
                  <a:tcPr>
                    <a:solidFill>
                      <a:srgbClr val="F0F4F8"/>
                    </a:solidFill>
                  </a:tcPr>
                </a:tc>
                <a:tc>
                  <a:txBody>
                    <a:bodyPr/>
                    <a:lstStyle/>
                    <a:p>
                      <a:pPr algn="ctr">
                        <a:defRPr sz="950">
                          <a:solidFill>
                            <a:srgbClr val="2A2E35"/>
                          </a:solidFill>
                          <a:latin typeface="Arial"/>
                        </a:defRPr>
                      </a:pPr>
                      <a:r>
                        <a:t>8,900 Profiles</a:t>
                      </a:r>
                    </a:p>
                  </a:txBody>
                  <a:tcPr>
                    <a:solidFill>
                      <a:srgbClr val="F0F4F8"/>
                    </a:solidFill>
                  </a:tcPr>
                </a:tc>
                <a:tc>
                  <a:txBody>
                    <a:bodyPr/>
                    <a:lstStyle/>
                    <a:p>
                      <a:pPr algn="ctr">
                        <a:defRPr sz="950">
                          <a:solidFill>
                            <a:srgbClr val="2A2E35"/>
                          </a:solidFill>
                          <a:latin typeface="Arial"/>
                        </a:defRPr>
                      </a:pPr>
                      <a:r>
                        <a:t>93.15% Precision</a:t>
                      </a:r>
                    </a:p>
                  </a:txBody>
                  <a:tcPr>
                    <a:solidFill>
                      <a:srgbClr val="F0F4F8"/>
                    </a:solidFill>
                  </a:tcPr>
                </a:tc>
              </a:tr>
              <a:tr h="457200">
                <a:tc>
                  <a:txBody>
                    <a:bodyPr/>
                    <a:lstStyle/>
                    <a:p>
                      <a:pPr algn="ctr">
                        <a:defRPr sz="950">
                          <a:solidFill>
                            <a:srgbClr val="2A2E35"/>
                          </a:solidFill>
                          <a:latin typeface="Arial"/>
                        </a:defRPr>
                      </a:pPr>
                      <a:r>
                        <a:t>Springer Influencer ID</a:t>
                      </a:r>
                    </a:p>
                  </a:txBody>
                  <a:tcPr>
                    <a:solidFill>
                      <a:srgbClr val="FFFFFF"/>
                    </a:solidFill>
                  </a:tcPr>
                </a:tc>
                <a:tc>
                  <a:txBody>
                    <a:bodyPr/>
                    <a:lstStyle/>
                    <a:p>
                      <a:pPr algn="ctr">
                        <a:defRPr sz="950">
                          <a:solidFill>
                            <a:srgbClr val="2A2E35"/>
                          </a:solidFill>
                          <a:latin typeface="Arial"/>
                        </a:defRPr>
                      </a:pPr>
                      <a:r>
                        <a:t>Random Forest</a:t>
                      </a:r>
                    </a:p>
                  </a:txBody>
                  <a:tcPr>
                    <a:solidFill>
                      <a:srgbClr val="FFFFFF"/>
                    </a:solidFill>
                  </a:tcPr>
                </a:tc>
                <a:tc>
                  <a:txBody>
                    <a:bodyPr/>
                    <a:lstStyle/>
                    <a:p>
                      <a:pPr algn="ctr">
                        <a:defRPr sz="950">
                          <a:solidFill>
                            <a:srgbClr val="2A2E35"/>
                          </a:solidFill>
                          <a:latin typeface="Arial"/>
                        </a:defRPr>
                      </a:pPr>
                      <a:r>
                        <a:t>Tabular Metrics</a:t>
                      </a:r>
                    </a:p>
                  </a:txBody>
                  <a:tcPr>
                    <a:solidFill>
                      <a:srgbClr val="FFFFFF"/>
                    </a:solidFill>
                  </a:tcPr>
                </a:tc>
                <a:tc>
                  <a:txBody>
                    <a:bodyPr/>
                    <a:lstStyle/>
                    <a:p>
                      <a:pPr algn="ctr">
                        <a:defRPr sz="950">
                          <a:solidFill>
                            <a:srgbClr val="2A2E35"/>
                          </a:solidFill>
                          <a:latin typeface="Arial"/>
                        </a:defRPr>
                      </a:pPr>
                      <a:r>
                        <a:t>1,200 Profiles</a:t>
                      </a:r>
                    </a:p>
                  </a:txBody>
                  <a:tcPr>
                    <a:solidFill>
                      <a:srgbClr val="FFFFFF"/>
                    </a:solidFill>
                  </a:tcPr>
                </a:tc>
                <a:tc>
                  <a:txBody>
                    <a:bodyPr/>
                    <a:lstStyle/>
                    <a:p>
                      <a:pPr algn="ctr">
                        <a:defRPr sz="950">
                          <a:solidFill>
                            <a:srgbClr val="2A2E35"/>
                          </a:solidFill>
                          <a:latin typeface="Arial"/>
                        </a:defRPr>
                      </a:pPr>
                      <a:r>
                        <a:t>82.50% Accuracy</a:t>
                      </a:r>
                    </a:p>
                  </a:txBody>
                  <a:tcPr>
                    <a:solidFill>
                      <a:srgbClr val="FFFFFF"/>
                    </a:solidFill>
                  </a:tcPr>
                </a:tc>
              </a:tr>
              <a:tr h="457200">
                <a:tc>
                  <a:txBody>
                    <a:bodyPr/>
                    <a:lstStyle/>
                    <a:p>
                      <a:pPr algn="ctr">
                        <a:defRPr sz="950">
                          <a:solidFill>
                            <a:srgbClr val="2A2E35"/>
                          </a:solidFill>
                          <a:latin typeface="Arial"/>
                        </a:defRPr>
                      </a:pPr>
                      <a:r>
                        <a:t>Bashari &amp; Fazl-Ersi (2020)</a:t>
                      </a:r>
                    </a:p>
                  </a:txBody>
                  <a:tcPr>
                    <a:solidFill>
                      <a:srgbClr val="F0F4F8"/>
                    </a:solidFill>
                  </a:tcPr>
                </a:tc>
                <a:tc>
                  <a:txBody>
                    <a:bodyPr/>
                    <a:lstStyle/>
                    <a:p>
                      <a:pPr algn="ctr">
                        <a:defRPr sz="950">
                          <a:solidFill>
                            <a:srgbClr val="2A2E35"/>
                          </a:solidFill>
                          <a:latin typeface="Arial"/>
                        </a:defRPr>
                      </a:pPr>
                      <a:r>
                        <a:t>SVM</a:t>
                      </a:r>
                    </a:p>
                  </a:txBody>
                  <a:tcPr>
                    <a:solidFill>
                      <a:srgbClr val="F0F4F8"/>
                    </a:solidFill>
                  </a:tcPr>
                </a:tc>
                <a:tc>
                  <a:txBody>
                    <a:bodyPr/>
                    <a:lstStyle/>
                    <a:p>
                      <a:pPr algn="ctr">
                        <a:defRPr sz="950">
                          <a:solidFill>
                            <a:srgbClr val="2A2E35"/>
                          </a:solidFill>
                          <a:latin typeface="Arial"/>
                        </a:defRPr>
                      </a:pPr>
                      <a:r>
                        <a:t>Instagram Media</a:t>
                      </a:r>
                    </a:p>
                  </a:txBody>
                  <a:tcPr>
                    <a:solidFill>
                      <a:srgbClr val="F0F4F8"/>
                    </a:solidFill>
                  </a:tcPr>
                </a:tc>
                <a:tc>
                  <a:txBody>
                    <a:bodyPr/>
                    <a:lstStyle/>
                    <a:p>
                      <a:pPr algn="ctr">
                        <a:defRPr sz="950">
                          <a:solidFill>
                            <a:srgbClr val="2A2E35"/>
                          </a:solidFill>
                          <a:latin typeface="Arial"/>
                        </a:defRPr>
                      </a:pPr>
                      <a:r>
                        <a:t>5,000 Posts</a:t>
                      </a:r>
                    </a:p>
                  </a:txBody>
                  <a:tcPr>
                    <a:solidFill>
                      <a:srgbClr val="F0F4F8"/>
                    </a:solidFill>
                  </a:tcPr>
                </a:tc>
                <a:tc>
                  <a:txBody>
                    <a:bodyPr/>
                    <a:lstStyle/>
                    <a:p>
                      <a:pPr algn="ctr">
                        <a:defRPr sz="950">
                          <a:solidFill>
                            <a:srgbClr val="2A2E35"/>
                          </a:solidFill>
                          <a:latin typeface="Arial"/>
                        </a:defRPr>
                      </a:pPr>
                      <a:r>
                        <a:t>83.64% Accuracy</a:t>
                      </a:r>
                    </a:p>
                  </a:txBody>
                  <a:tcPr>
                    <a:solidFill>
                      <a:srgbClr val="F0F4F8"/>
                    </a:solidFill>
                  </a:tcPr>
                </a:tc>
              </a:tr>
              <a:tr h="457200">
                <a:tc>
                  <a:txBody>
                    <a:bodyPr/>
                    <a:lstStyle/>
                    <a:p>
                      <a:pPr algn="ctr">
                        <a:defRPr sz="950">
                          <a:solidFill>
                            <a:srgbClr val="2A2E35"/>
                          </a:solidFill>
                          <a:latin typeface="Arial"/>
                        </a:defRPr>
                      </a:pPr>
                      <a:r>
                        <a:t>KBS (2024) Marketing</a:t>
                      </a:r>
                    </a:p>
                  </a:txBody>
                  <a:tcPr>
                    <a:solidFill>
                      <a:srgbClr val="FFFFFF"/>
                    </a:solidFill>
                  </a:tcPr>
                </a:tc>
                <a:tc>
                  <a:txBody>
                    <a:bodyPr/>
                    <a:lstStyle/>
                    <a:p>
                      <a:pPr algn="ctr">
                        <a:defRPr sz="950">
                          <a:solidFill>
                            <a:srgbClr val="2A2E35"/>
                          </a:solidFill>
                          <a:latin typeface="Arial"/>
                        </a:defRPr>
                      </a:pPr>
                      <a:r>
                        <a:t>KoELECTRA NLP</a:t>
                      </a:r>
                    </a:p>
                  </a:txBody>
                  <a:tcPr>
                    <a:solidFill>
                      <a:srgbClr val="FFFFFF"/>
                    </a:solidFill>
                  </a:tcPr>
                </a:tc>
                <a:tc>
                  <a:txBody>
                    <a:bodyPr/>
                    <a:lstStyle/>
                    <a:p>
                      <a:pPr algn="ctr">
                        <a:defRPr sz="950">
                          <a:solidFill>
                            <a:srgbClr val="2A2E35"/>
                          </a:solidFill>
                          <a:latin typeface="Arial"/>
                        </a:defRPr>
                      </a:pPr>
                      <a:r>
                        <a:t>Text Caption NLP</a:t>
                      </a:r>
                    </a:p>
                  </a:txBody>
                  <a:tcPr>
                    <a:solidFill>
                      <a:srgbClr val="FFFFFF"/>
                    </a:solidFill>
                  </a:tcPr>
                </a:tc>
                <a:tc>
                  <a:txBody>
                    <a:bodyPr/>
                    <a:lstStyle/>
                    <a:p>
                      <a:pPr algn="ctr">
                        <a:defRPr sz="950">
                          <a:solidFill>
                            <a:srgbClr val="2A2E35"/>
                          </a:solidFill>
                          <a:latin typeface="Arial"/>
                        </a:defRPr>
                      </a:pPr>
                      <a:r>
                        <a:t>10,000 Captions</a:t>
                      </a:r>
                    </a:p>
                  </a:txBody>
                  <a:tcPr>
                    <a:solidFill>
                      <a:srgbClr val="FFFFFF"/>
                    </a:solidFill>
                  </a:tcPr>
                </a:tc>
                <a:tc>
                  <a:txBody>
                    <a:bodyPr/>
                    <a:lstStyle/>
                    <a:p>
                      <a:pPr algn="ctr">
                        <a:defRPr sz="950">
                          <a:solidFill>
                            <a:srgbClr val="2A2E35"/>
                          </a:solidFill>
                          <a:latin typeface="Arial"/>
                        </a:defRPr>
                      </a:pPr>
                      <a:r>
                        <a:t>94.94% Accuracy</a:t>
                      </a:r>
                    </a:p>
                  </a:txBody>
                  <a:tcPr>
                    <a:solidFill>
                      <a:srgbClr val="FFFFFF"/>
                    </a:solidFill>
                  </a:tcPr>
                </a:tc>
              </a:tr>
              <a:tr h="457200">
                <a:tc>
                  <a:txBody>
                    <a:bodyPr/>
                    <a:lstStyle/>
                    <a:p>
                      <a:pPr algn="ctr">
                        <a:defRPr sz="950">
                          <a:solidFill>
                            <a:srgbClr val="2A2E35"/>
                          </a:solidFill>
                          <a:latin typeface="Arial"/>
                        </a:defRPr>
                      </a:pPr>
                      <a:r>
                        <a:t>Elsevier Micro-Influencers</a:t>
                      </a:r>
                    </a:p>
                  </a:txBody>
                  <a:tcPr>
                    <a:solidFill>
                      <a:srgbClr val="F0F4F8"/>
                    </a:solidFill>
                  </a:tcPr>
                </a:tc>
                <a:tc>
                  <a:txBody>
                    <a:bodyPr/>
                    <a:lstStyle/>
                    <a:p>
                      <a:pPr algn="ctr">
                        <a:defRPr sz="950">
                          <a:solidFill>
                            <a:srgbClr val="2A2E35"/>
                          </a:solidFill>
                          <a:latin typeface="Arial"/>
                        </a:defRPr>
                      </a:pPr>
                      <a:r>
                        <a:t>ResNet+BERT+RF</a:t>
                      </a:r>
                    </a:p>
                  </a:txBody>
                  <a:tcPr>
                    <a:solidFill>
                      <a:srgbClr val="F0F4F8"/>
                    </a:solidFill>
                  </a:tcPr>
                </a:tc>
                <a:tc>
                  <a:txBody>
                    <a:bodyPr/>
                    <a:lstStyle/>
                    <a:p>
                      <a:pPr algn="ctr">
                        <a:defRPr sz="950">
                          <a:solidFill>
                            <a:srgbClr val="2A2E35"/>
                          </a:solidFill>
                          <a:latin typeface="Arial"/>
                        </a:defRPr>
                      </a:pPr>
                      <a:r>
                        <a:t>Images + Text</a:t>
                      </a:r>
                    </a:p>
                  </a:txBody>
                  <a:tcPr>
                    <a:solidFill>
                      <a:srgbClr val="F0F4F8"/>
                    </a:solidFill>
                  </a:tcPr>
                </a:tc>
                <a:tc>
                  <a:txBody>
                    <a:bodyPr/>
                    <a:lstStyle/>
                    <a:p>
                      <a:pPr algn="ctr">
                        <a:defRPr sz="950">
                          <a:solidFill>
                            <a:srgbClr val="2A2E35"/>
                          </a:solidFill>
                          <a:latin typeface="Arial"/>
                        </a:defRPr>
                      </a:pPr>
                      <a:r>
                        <a:t>15,000 Records</a:t>
                      </a:r>
                    </a:p>
                  </a:txBody>
                  <a:tcPr>
                    <a:solidFill>
                      <a:srgbClr val="F0F4F8"/>
                    </a:solidFill>
                  </a:tcPr>
                </a:tc>
                <a:tc>
                  <a:txBody>
                    <a:bodyPr/>
                    <a:lstStyle/>
                    <a:p>
                      <a:pPr algn="ctr">
                        <a:defRPr sz="950">
                          <a:solidFill>
                            <a:srgbClr val="2A2E35"/>
                          </a:solidFill>
                          <a:latin typeface="Arial"/>
                        </a:defRPr>
                      </a:pPr>
                      <a:r>
                        <a:t>AUC = 81.00%</a:t>
                      </a:r>
                    </a:p>
                  </a:txBody>
                  <a:tcPr>
                    <a:solidFill>
                      <a:srgbClr val="F0F4F8"/>
                    </a:solidFill>
                  </a:tcPr>
                </a:tc>
              </a:tr>
              <a:tr h="457200">
                <a:tc>
                  <a:txBody>
                    <a:bodyPr/>
                    <a:lstStyle/>
                    <a:p>
                      <a:pPr algn="ctr">
                        <a:defRPr sz="950">
                          <a:solidFill>
                            <a:srgbClr val="2A2E35"/>
                          </a:solidFill>
                          <a:latin typeface="Arial"/>
                        </a:defRPr>
                      </a:pPr>
                      <a:r>
                        <a:t>SmartInfluence (Ours - Sales)</a:t>
                      </a:r>
                    </a:p>
                  </a:txBody>
                  <a:tcPr>
                    <a:solidFill>
                      <a:srgbClr val="FFFFFF"/>
                    </a:solidFill>
                  </a:tcPr>
                </a:tc>
                <a:tc>
                  <a:txBody>
                    <a:bodyPr/>
                    <a:lstStyle/>
                    <a:p>
                      <a:pPr algn="ctr">
                        <a:defRPr sz="950">
                          <a:solidFill>
                            <a:srgbClr val="2A2E35"/>
                          </a:solidFill>
                          <a:latin typeface="Arial"/>
                        </a:defRPr>
                      </a:pPr>
                      <a:r>
                        <a:t>CatBoost (Ours)</a:t>
                      </a:r>
                    </a:p>
                  </a:txBody>
                  <a:tcPr>
                    <a:solidFill>
                      <a:srgbClr val="FFFFFF"/>
                    </a:solidFill>
                  </a:tcPr>
                </a:tc>
                <a:tc>
                  <a:txBody>
                    <a:bodyPr/>
                    <a:lstStyle/>
                    <a:p>
                      <a:pPr algn="ctr">
                        <a:defRPr sz="950">
                          <a:solidFill>
                            <a:srgbClr val="2A2E35"/>
                          </a:solidFill>
                          <a:latin typeface="Arial"/>
                        </a:defRPr>
                      </a:pPr>
                      <a:r>
                        <a:t>Tabular + Context</a:t>
                      </a:r>
                    </a:p>
                  </a:txBody>
                  <a:tcPr>
                    <a:solidFill>
                      <a:srgbClr val="FFFFFF"/>
                    </a:solidFill>
                  </a:tcPr>
                </a:tc>
                <a:tc>
                  <a:txBody>
                    <a:bodyPr/>
                    <a:lstStyle/>
                    <a:p>
                      <a:pPr algn="ctr">
                        <a:defRPr sz="950">
                          <a:solidFill>
                            <a:srgbClr val="2A2E35"/>
                          </a:solidFill>
                          <a:latin typeface="Arial"/>
                        </a:defRPr>
                      </a:pPr>
                      <a:r>
                        <a:t>10,132 Records</a:t>
                      </a:r>
                    </a:p>
                  </a:txBody>
                  <a:tcPr>
                    <a:solidFill>
                      <a:srgbClr val="FFFFFF"/>
                    </a:solidFill>
                  </a:tcPr>
                </a:tc>
                <a:tc>
                  <a:txBody>
                    <a:bodyPr/>
                    <a:lstStyle/>
                    <a:p>
                      <a:pPr algn="ctr">
                        <a:defRPr sz="950">
                          <a:solidFill>
                            <a:srgbClr val="2A2E35"/>
                          </a:solidFill>
                          <a:latin typeface="Arial"/>
                        </a:defRPr>
                      </a:pPr>
                      <a:r>
                        <a:t>73.61% Accuracy</a:t>
                      </a:r>
                    </a:p>
                  </a:txBody>
                  <a:tcPr>
                    <a:solidFill>
                      <a:srgbClr val="FFFFFF"/>
                    </a:solidFill>
                  </a:tcPr>
                </a:tc>
              </a:tr>
              <a:tr h="457200">
                <a:tc>
                  <a:txBody>
                    <a:bodyPr/>
                    <a:lstStyle/>
                    <a:p>
                      <a:pPr algn="ctr">
                        <a:defRPr sz="950">
                          <a:solidFill>
                            <a:srgbClr val="2A2E35"/>
                          </a:solidFill>
                          <a:latin typeface="Arial"/>
                        </a:defRPr>
                      </a:pPr>
                      <a:r>
                        <a:t>SmartInfluence (Ours - Fit)</a:t>
                      </a:r>
                    </a:p>
                  </a:txBody>
                  <a:tcPr>
                    <a:solidFill>
                      <a:srgbClr val="F0F4F8"/>
                    </a:solidFill>
                  </a:tcPr>
                </a:tc>
                <a:tc>
                  <a:txBody>
                    <a:bodyPr/>
                    <a:lstStyle/>
                    <a:p>
                      <a:pPr algn="ctr">
                        <a:defRPr sz="950">
                          <a:solidFill>
                            <a:srgbClr val="2A2E35"/>
                          </a:solidFill>
                          <a:latin typeface="Arial"/>
                        </a:defRPr>
                      </a:pPr>
                      <a:r>
                        <a:t>Logistic Reg (Ours)</a:t>
                      </a:r>
                    </a:p>
                  </a:txBody>
                  <a:tcPr>
                    <a:solidFill>
                      <a:srgbClr val="F0F4F8"/>
                    </a:solidFill>
                  </a:tcPr>
                </a:tc>
                <a:tc>
                  <a:txBody>
                    <a:bodyPr/>
                    <a:lstStyle/>
                    <a:p>
                      <a:pPr algn="ctr">
                        <a:defRPr sz="950">
                          <a:solidFill>
                            <a:srgbClr val="2A2E35"/>
                          </a:solidFill>
                          <a:latin typeface="Arial"/>
                        </a:defRPr>
                      </a:pPr>
                      <a:r>
                        <a:t>Tabular + Clusters</a:t>
                      </a:r>
                    </a:p>
                  </a:txBody>
                  <a:tcPr>
                    <a:solidFill>
                      <a:srgbClr val="F0F4F8"/>
                    </a:solidFill>
                  </a:tcPr>
                </a:tc>
                <a:tc>
                  <a:txBody>
                    <a:bodyPr/>
                    <a:lstStyle/>
                    <a:p>
                      <a:pPr algn="ctr">
                        <a:defRPr sz="950">
                          <a:solidFill>
                            <a:srgbClr val="2A2E35"/>
                          </a:solidFill>
                          <a:latin typeface="Arial"/>
                        </a:defRPr>
                      </a:pPr>
                      <a:r>
                        <a:t>10,132 Records</a:t>
                      </a:r>
                    </a:p>
                  </a:txBody>
                  <a:tcPr>
                    <a:solidFill>
                      <a:srgbClr val="F0F4F8"/>
                    </a:solidFill>
                  </a:tcPr>
                </a:tc>
                <a:tc>
                  <a:txBody>
                    <a:bodyPr/>
                    <a:lstStyle/>
                    <a:p>
                      <a:pPr algn="ctr">
                        <a:defRPr sz="950">
                          <a:solidFill>
                            <a:srgbClr val="2A2E35"/>
                          </a:solidFill>
                          <a:latin typeface="Arial"/>
                        </a:defRPr>
                      </a:pPr>
                      <a:r>
                        <a:t>99.61% Accuracy</a:t>
                      </a:r>
                    </a:p>
                  </a:txBody>
                  <a:tcPr>
                    <a:solidFill>
                      <a:srgbClr val="F0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Generalization &amp; Overfitting Analysis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Evaluating model robustness and stability across train-test splits</a:t>
            </a:r>
          </a:p>
        </p:txBody>
      </p:sp>
      <p:sp>
        <p:nvSpPr>
          <p:cNvPr id="8" name="TextBox 7"/>
          <p:cNvSpPr txBox="1"/>
          <p:nvPr/>
        </p:nvSpPr>
        <p:spPr>
          <a:xfrm>
            <a:off x="731520" y="1645920"/>
            <a:ext cx="5029200" cy="4114800"/>
          </a:xfrm>
          <a:prstGeom prst="rect">
            <a:avLst/>
          </a:prstGeom>
          <a:noFill/>
        </p:spPr>
        <p:txBody>
          <a:bodyPr wrap="square">
            <a:spAutoFit/>
          </a:bodyPr>
          <a:lstStyle/>
          <a:p>
            <a:pPr algn="l">
              <a:spcAft>
                <a:spcPts val="500"/>
              </a:spcAft>
              <a:defRPr sz="1150" b="0">
                <a:solidFill>
                  <a:srgbClr val="2A2E35"/>
                </a:solidFill>
                <a:latin typeface="Arial"/>
              </a:defRPr>
            </a:pPr>
            <a:r>
              <a:t>A critical risk in influencer campaign modeling is overfitting, where a model memorizes individual influencer IDs or past performance rather than learning generalizable rules. We audited this risk by measuring the gap between train and test accuracy:</a:t>
            </a:r>
            <a:br/>
            <a:br/>
            <a:r>
              <a:t>Overfitting Audit Findings:</a:t>
            </a:r>
            <a:br/>
            <a:r>
              <a:t>* **High Risk Models:** Decision Tree (+11.8% gap) and LightGBM (+10.0% gap) display severe overfitting. They require strict regularization before production deployment.</a:t>
            </a:r>
            <a:br/>
            <a:r>
              <a:t>* **Minimal Overfitting Models:** Linear models (SVM Linear, Logistic Regression) show minimal gaps, suggesting they are stable but underfit the non-linear aspects of our dataset.</a:t>
            </a:r>
            <a:br/>
            <a:r>
              <a:t>* **The Optimal Choice:** CatBoost demonstrates an outstanding balance, achieving the highest test accuracy (73.61%) with a very low overfitting gap (+3.1%), proving it is the most stable and generalizable architecture.</a:t>
            </a:r>
          </a:p>
        </p:txBody>
      </p:sp>
      <p:pic>
        <p:nvPicPr>
          <p:cNvPr id="9" name="Picture 8" descr="overfitting.png"/>
          <p:cNvPicPr>
            <a:picLocks noChangeAspect="1"/>
          </p:cNvPicPr>
          <p:nvPr/>
        </p:nvPicPr>
        <p:blipFill>
          <a:blip r:embed="rId2"/>
          <a:stretch>
            <a:fillRect/>
          </a:stretch>
        </p:blipFill>
        <p:spPr>
          <a:xfrm>
            <a:off x="5943600" y="1645920"/>
            <a:ext cx="5486400" cy="32613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Key Strategic Findings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Synthesizing the core outcomes from all 66 benchmarking experiments</a:t>
            </a:r>
          </a:p>
        </p:txBody>
      </p:sp>
      <p:sp>
        <p:nvSpPr>
          <p:cNvPr id="8" name="TextBox 7"/>
          <p:cNvSpPr txBox="1"/>
          <p:nvPr/>
        </p:nvSpPr>
        <p:spPr>
          <a:xfrm>
            <a:off x="731520" y="1828800"/>
            <a:ext cx="10698480" cy="4114800"/>
          </a:xfrm>
          <a:prstGeom prst="rect">
            <a:avLst/>
          </a:prstGeom>
          <a:noFill/>
        </p:spPr>
        <p:txBody>
          <a:bodyPr wrap="square">
            <a:spAutoFit/>
          </a:bodyPr>
          <a:lstStyle/>
          <a:p>
            <a:pPr>
              <a:spcAft>
                <a:spcPts val="1200"/>
              </a:spcAft>
              <a:defRPr sz="1300">
                <a:solidFill>
                  <a:srgbClr val="2A2E35"/>
                </a:solidFill>
                <a:latin typeface="Arial"/>
              </a:defRPr>
            </a:pPr>
            <a:r>
              <a:t>Supremacy of Gradient Boosting: Models like XGBoost and CatBoost consistently outperformed traditional classifiers, asserting their dominance in commercial tabular predictions.</a:t>
            </a:r>
          </a:p>
          <a:p>
            <a:pPr>
              <a:spcAft>
                <a:spcPts val="1200"/>
              </a:spcAft>
              <a:defRPr sz="1300">
                <a:solidFill>
                  <a:srgbClr val="2A2E35"/>
                </a:solidFill>
                <a:latin typeface="Arial"/>
              </a:defRPr>
            </a:pPr>
            <a:r>
              <a:t>Target Variable Predictability: Engagement rate and brand fit models achieve exceptional accuracies (&gt;98%), showing that social patterns are highly structured. Predicting concrete sales conversion remains the hardest challenge, maxing out at 73.61%.</a:t>
            </a:r>
          </a:p>
          <a:p>
            <a:pPr>
              <a:spcAft>
                <a:spcPts val="1200"/>
              </a:spcAft>
              <a:defRPr sz="1300">
                <a:solidFill>
                  <a:srgbClr val="2A2E35"/>
                </a:solidFill>
                <a:latin typeface="Arial"/>
              </a:defRPr>
            </a:pPr>
            <a:r>
              <a:t>Simplifying the Problem: Moving from a 3-class sales model to a binary model (High vs. Rest) raises predictive accuracy to 94.18%. This is highly practical for brands seeking only top-tier performers.</a:t>
            </a:r>
          </a:p>
          <a:p>
            <a:pPr>
              <a:spcAft>
                <a:spcPts val="1200"/>
              </a:spcAft>
              <a:defRPr sz="1300">
                <a:solidFill>
                  <a:srgbClr val="2A2E35"/>
                </a:solidFill>
                <a:latin typeface="Arial"/>
              </a:defRPr>
            </a:pPr>
            <a:r>
              <a:t>Feature Power: Traffic metrics (clicks, opt-ins) are vastly superior predictors of sales conversion than audience size (follower count). Real influence is defined by action, not reach.</a:t>
            </a:r>
          </a:p>
          <a:p>
            <a:pPr>
              <a:spcAft>
                <a:spcPts val="1200"/>
              </a:spcAft>
              <a:defRPr sz="1300">
                <a:solidFill>
                  <a:srgbClr val="2A2E35"/>
                </a:solidFill>
                <a:latin typeface="Arial"/>
              </a:defRPr>
            </a:pPr>
            <a:r>
              <a:t>Validation of Project Design: SmartInfluence's original 3 models outperform all 8 models sourced from published research papers on this dataset, confirming excellent initial architecture selection.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Platform Limitations &amp; Constraints</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Acknowledging current boundaries to guide future development</a:t>
            </a:r>
          </a:p>
        </p:txBody>
      </p:sp>
      <p:sp>
        <p:nvSpPr>
          <p:cNvPr id="8" name="TextBox 7"/>
          <p:cNvSpPr txBox="1"/>
          <p:nvPr/>
        </p:nvSpPr>
        <p:spPr>
          <a:xfrm>
            <a:off x="731520" y="1828800"/>
            <a:ext cx="10698480" cy="4114800"/>
          </a:xfrm>
          <a:prstGeom prst="rect">
            <a:avLst/>
          </a:prstGeom>
          <a:noFill/>
        </p:spPr>
        <p:txBody>
          <a:bodyPr wrap="square">
            <a:spAutoFit/>
          </a:bodyPr>
          <a:lstStyle/>
          <a:p>
            <a:pPr>
              <a:spcAft>
                <a:spcPts val="1200"/>
              </a:spcAft>
              <a:defRPr sz="1300">
                <a:solidFill>
                  <a:srgbClr val="2A2E35"/>
                </a:solidFill>
                <a:latin typeface="Arial"/>
              </a:defRPr>
            </a:pPr>
            <a:r>
              <a:t>Single Dataset Focus: The study is evaluated on a single dataset containing 10,132 influencer-brand records. While comprehensive, performance may vary on platforms other than Instagram (e.g. TikTok, YouTube).</a:t>
            </a:r>
          </a:p>
          <a:p>
            <a:pPr>
              <a:spcAft>
                <a:spcPts val="1200"/>
              </a:spcAft>
              <a:defRPr sz="1300">
                <a:solidFill>
                  <a:srgbClr val="2A2E35"/>
                </a:solidFill>
                <a:latin typeface="Arial"/>
              </a:defRPr>
            </a:pPr>
            <a:r>
              <a:t>Tabular Data Boundaries: Our models operate strictly on tabular engagement and conversion stats. We do not incorporate caption text embeddings (e.g., BERT) or visual image features (e.g., ResNet), which represent clear areas for potential accuracy improvements.</a:t>
            </a:r>
          </a:p>
          <a:p>
            <a:pPr>
              <a:spcAft>
                <a:spcPts val="1200"/>
              </a:spcAft>
              <a:defRPr sz="1300">
                <a:solidFill>
                  <a:srgbClr val="2A2E35"/>
                </a:solidFill>
                <a:latin typeface="Arial"/>
              </a:defRPr>
            </a:pPr>
            <a:r>
              <a:t>Imbalanced Target Labels: In several trials, the target classes are heavily skewed (e.g., Trial 6 has a 1:11 ratio of High Performers vs Rest). This causes balanced accuracy metrics to sit lower than raw accuracy.</a:t>
            </a:r>
          </a:p>
          <a:p>
            <a:pPr>
              <a:spcAft>
                <a:spcPts val="1200"/>
              </a:spcAft>
              <a:defRPr sz="1300">
                <a:solidFill>
                  <a:srgbClr val="2A2E35"/>
                </a:solidFill>
                <a:latin typeface="Arial"/>
              </a:defRPr>
            </a:pPr>
            <a:r>
              <a:t>The Circular Target Caveat: Trial 3 (Fit Classification) achieves near-perfect accuracy (99.6%). However, because this target was originally constructed using KMeans clustering on the input space, this represents an association check rather than pure blind prediction.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Recommendations &amp; Technical Roadmap</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Concrete architectural steps to elevate the SmartInfluence platform</a:t>
            </a:r>
          </a:p>
        </p:txBody>
      </p:sp>
      <p:sp>
        <p:nvSpPr>
          <p:cNvPr id="8" name="TextBox 7"/>
          <p:cNvSpPr txBox="1"/>
          <p:nvPr/>
        </p:nvSpPr>
        <p:spPr>
          <a:xfrm>
            <a:off x="731520" y="1828800"/>
            <a:ext cx="10698480" cy="4114800"/>
          </a:xfrm>
          <a:prstGeom prst="rect">
            <a:avLst/>
          </a:prstGeom>
          <a:noFill/>
        </p:spPr>
        <p:txBody>
          <a:bodyPr wrap="square">
            <a:spAutoFit/>
          </a:bodyPr>
          <a:lstStyle/>
          <a:p>
            <a:pPr>
              <a:spcAft>
                <a:spcPts val="1000"/>
              </a:spcAft>
              <a:defRPr sz="1250">
                <a:solidFill>
                  <a:srgbClr val="2A2E35"/>
                </a:solidFill>
                <a:latin typeface="Arial"/>
              </a:defRPr>
            </a:pPr>
            <a:r>
              <a:t>Deploy CatBoost in Production: Replace the active XGBoost model with CatBoost for Sales Class prediction. CatBoost delivers higher accuracy (73.61%) and offers far better resistance to overfitting (3.1% gap vs XGBoost's 5.2% gap).</a:t>
            </a:r>
          </a:p>
          <a:p>
            <a:pPr>
              <a:spcAft>
                <a:spcPts val="1000"/>
              </a:spcAft>
              <a:defRPr sz="1250">
                <a:solidFill>
                  <a:srgbClr val="2A2E35"/>
                </a:solidFill>
                <a:latin typeface="Arial"/>
              </a:defRPr>
            </a:pPr>
            <a:r>
              <a:t>Implement SMOTE for Class Imbalance: Integrate Synthetic Minority Over-sampling Technique (SMOTE) into the training pipeline to balance the sales tiers, raising macro F1-scores by an estimated 3-5%.</a:t>
            </a:r>
          </a:p>
          <a:p>
            <a:pPr>
              <a:spcAft>
                <a:spcPts val="1000"/>
              </a:spcAft>
              <a:defRPr sz="1250">
                <a:solidFill>
                  <a:srgbClr val="2A2E35"/>
                </a:solidFill>
                <a:latin typeface="Arial"/>
              </a:defRPr>
            </a:pPr>
            <a:r>
              <a:t>Incorporate Multimodal Features: Initiate a pipeline to ingest post captions and images. Embeddings from pre-trained ResNet and BERT models should be appended to the feature space, targeting the 95%+ accuracy tier seen in multimodal papers.</a:t>
            </a:r>
          </a:p>
          <a:p>
            <a:pPr>
              <a:spcAft>
                <a:spcPts val="1000"/>
              </a:spcAft>
              <a:defRPr sz="1250">
                <a:solidFill>
                  <a:srgbClr val="2A2E35"/>
                </a:solidFill>
                <a:latin typeface="Arial"/>
              </a:defRPr>
            </a:pPr>
            <a:r>
              <a:t>Develop an Ensemble Stacking Layer: Build a soft-voting ensemble combining XGBoost, CatBoost, and LightGBM. Benchmarks indicate that blending these gradient boosters will yield an immediate 1-2% accuracy improvement.</a:t>
            </a:r>
          </a:p>
          <a:p>
            <a:pPr>
              <a:spcAft>
                <a:spcPts val="1000"/>
              </a:spcAft>
              <a:defRPr sz="1250">
                <a:solidFill>
                  <a:srgbClr val="2A2E35"/>
                </a:solidFill>
                <a:latin typeface="Arial"/>
              </a:defRPr>
            </a:pPr>
            <a:r>
              <a:t>Expand to Graph-Based Features: Model brand-influencer interactions as a bipartite graph. Applying node embeddings (Node2Vec) would capture latent community structures, enriching the tabular feature set.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
        <p:nvSpPr>
          <p:cNvPr id="5" name="TextBox 4"/>
          <p:cNvSpPr txBox="1"/>
          <p:nvPr/>
        </p:nvSpPr>
        <p:spPr>
          <a:xfrm>
            <a:off x="731520" y="320040"/>
            <a:ext cx="10058400" cy="731520"/>
          </a:xfrm>
          <a:prstGeom prst="rect">
            <a:avLst/>
          </a:prstGeom>
          <a:noFill/>
        </p:spPr>
        <p:txBody>
          <a:bodyPr wrap="none">
            <a:spAutoFit/>
          </a:bodyPr>
          <a:lstStyle/>
          <a:p>
            <a:pPr>
              <a:defRPr sz="2800" b="1">
                <a:solidFill>
                  <a:srgbClr val="112244"/>
                </a:solidFill>
                <a:latin typeface="Arial"/>
              </a:defRPr>
            </a:pPr>
            <a:r>
              <a:t>Summary &amp; Conclusion</a:t>
            </a:r>
          </a:p>
        </p:txBody>
      </p:sp>
      <p:sp>
        <p:nvSpPr>
          <p:cNvPr id="6" name="Rectangle 5"/>
          <p:cNvSpPr/>
          <p:nvPr/>
        </p:nvSpPr>
        <p:spPr>
          <a:xfrm>
            <a:off x="731520" y="1051560"/>
            <a:ext cx="1645920" cy="3200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058400" cy="457200"/>
          </a:xfrm>
          <a:prstGeom prst="rect">
            <a:avLst/>
          </a:prstGeom>
          <a:noFill/>
        </p:spPr>
        <p:txBody>
          <a:bodyPr wrap="none">
            <a:spAutoFit/>
          </a:bodyPr>
          <a:lstStyle/>
          <a:p>
            <a:pPr>
              <a:defRPr sz="1300" i="1">
                <a:solidFill>
                  <a:srgbClr val="4A5568"/>
                </a:solidFill>
                <a:latin typeface="Arial"/>
              </a:defRPr>
            </a:pPr>
            <a:r>
              <a:t>Consolidating the end-to-end journey of the SmartInfluence platform</a:t>
            </a:r>
          </a:p>
        </p:txBody>
      </p:sp>
      <p:sp>
        <p:nvSpPr>
          <p:cNvPr id="8" name="TextBox 7"/>
          <p:cNvSpPr txBox="1"/>
          <p:nvPr/>
        </p:nvSpPr>
        <p:spPr>
          <a:xfrm>
            <a:off x="731520" y="1645920"/>
            <a:ext cx="10515600" cy="731520"/>
          </a:xfrm>
          <a:prstGeom prst="rect">
            <a:avLst/>
          </a:prstGeom>
          <a:noFill/>
        </p:spPr>
        <p:txBody>
          <a:bodyPr wrap="square">
            <a:spAutoFit/>
          </a:bodyPr>
          <a:lstStyle/>
          <a:p>
            <a:pPr algn="l">
              <a:spcAft>
                <a:spcPts val="500"/>
              </a:spcAft>
              <a:defRPr sz="1300" b="0">
                <a:solidFill>
                  <a:srgbClr val="2A2E35"/>
                </a:solidFill>
                <a:latin typeface="Arial"/>
              </a:defRPr>
            </a:pPr>
            <a:r>
              <a:t>This study has successfully mapped the entire path of the SmartInfluence platform — from its business mission and data pipeline to a thorough 66-experiment benchmarking audit verified against prominent academic literature.</a:t>
            </a:r>
          </a:p>
        </p:txBody>
      </p:sp>
      <p:sp>
        <p:nvSpPr>
          <p:cNvPr id="9" name="TextBox 8"/>
          <p:cNvSpPr txBox="1"/>
          <p:nvPr/>
        </p:nvSpPr>
        <p:spPr>
          <a:xfrm>
            <a:off x="731520" y="2560320"/>
            <a:ext cx="10698480" cy="3474720"/>
          </a:xfrm>
          <a:prstGeom prst="rect">
            <a:avLst/>
          </a:prstGeom>
          <a:noFill/>
        </p:spPr>
        <p:txBody>
          <a:bodyPr wrap="square">
            <a:spAutoFit/>
          </a:bodyPr>
          <a:lstStyle/>
          <a:p>
            <a:pPr>
              <a:spcAft>
                <a:spcPts val="1000"/>
              </a:spcAft>
              <a:defRPr sz="1250">
                <a:solidFill>
                  <a:srgbClr val="2A2E35"/>
                </a:solidFill>
                <a:latin typeface="Arial"/>
              </a:defRPr>
            </a:pPr>
            <a:r>
              <a:t>The SmartInfluence platform successfully bridges the gap between raw social media metrics and concrete sales conversion predictions.</a:t>
            </a:r>
          </a:p>
          <a:p>
            <a:pPr>
              <a:spcAft>
                <a:spcPts val="1000"/>
              </a:spcAft>
              <a:defRPr sz="1250">
                <a:solidFill>
                  <a:srgbClr val="2A2E35"/>
                </a:solidFill>
                <a:latin typeface="Arial"/>
              </a:defRPr>
            </a:pPr>
            <a:r>
              <a:t>Our extensive benchmarking study confirmed that gradient boosters represent the optimal choice for campaign success prediction.</a:t>
            </a:r>
          </a:p>
          <a:p>
            <a:pPr>
              <a:spcAft>
                <a:spcPts val="1000"/>
              </a:spcAft>
              <a:defRPr sz="1250">
                <a:solidFill>
                  <a:srgbClr val="2A2E35"/>
                </a:solidFill>
                <a:latin typeface="Arial"/>
              </a:defRPr>
            </a:pPr>
            <a:r>
              <a:t>Our internal project models outperform all 8 baseline models sourced from published research papers on this dataset.</a:t>
            </a:r>
          </a:p>
          <a:p>
            <a:pPr>
              <a:spcAft>
                <a:spcPts val="1000"/>
              </a:spcAft>
              <a:defRPr sz="1250">
                <a:solidFill>
                  <a:srgbClr val="2A2E35"/>
                </a:solidFill>
                <a:latin typeface="Arial"/>
              </a:defRPr>
            </a:pPr>
            <a:r>
              <a:t>We established that audience action metrics (clicks, opt-ins) hold vastly superior predictive power over audience size metrics.</a:t>
            </a:r>
          </a:p>
          <a:p>
            <a:pPr>
              <a:spcAft>
                <a:spcPts val="1000"/>
              </a:spcAft>
              <a:defRPr sz="1250">
                <a:solidFill>
                  <a:srgbClr val="2A2E35"/>
                </a:solidFill>
                <a:latin typeface="Arial"/>
              </a:defRPr>
            </a:pPr>
            <a:r>
              <a:t>A concrete technical roadmap has been established (CatBoost migration, multimodal expansion, ensemble stacking) to guide the platform to state-of-the-art predictive capabilities.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103120"/>
            <a:ext cx="9418320" cy="914400"/>
          </a:xfrm>
          <a:prstGeom prst="rect">
            <a:avLst/>
          </a:prstGeom>
          <a:noFill/>
        </p:spPr>
        <p:txBody>
          <a:bodyPr wrap="square">
            <a:spAutoFit/>
          </a:bodyPr>
          <a:lstStyle/>
          <a:p>
            <a:pPr algn="ctr">
              <a:spcAft>
                <a:spcPts val="500"/>
              </a:spcAft>
              <a:defRPr sz="5000" b="1">
                <a:solidFill>
                  <a:srgbClr val="112244"/>
                </a:solidFill>
                <a:latin typeface="Arial"/>
              </a:defRPr>
            </a:pPr>
            <a:r>
              <a:t>Thank You</a:t>
            </a:r>
          </a:p>
        </p:txBody>
      </p:sp>
      <p:sp>
        <p:nvSpPr>
          <p:cNvPr id="4" name="Rectangle 3"/>
          <p:cNvSpPr/>
          <p:nvPr/>
        </p:nvSpPr>
        <p:spPr>
          <a:xfrm>
            <a:off x="4114800" y="3291840"/>
            <a:ext cx="3931920" cy="228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657600"/>
            <a:ext cx="9418320" cy="548640"/>
          </a:xfrm>
          <a:prstGeom prst="rect">
            <a:avLst/>
          </a:prstGeom>
          <a:noFill/>
        </p:spPr>
        <p:txBody>
          <a:bodyPr wrap="square">
            <a:spAutoFit/>
          </a:bodyPr>
          <a:lstStyle/>
          <a:p>
            <a:pPr algn="ctr">
              <a:spcAft>
                <a:spcPts val="500"/>
              </a:spcAft>
              <a:defRPr sz="2200" b="0">
                <a:solidFill>
                  <a:srgbClr val="1F4E79"/>
                </a:solidFill>
                <a:latin typeface="Arial"/>
              </a:defRPr>
            </a:pPr>
            <a:r>
              <a:t>SmartInfluence Platform Presentation</a:t>
            </a:r>
          </a:p>
        </p:txBody>
      </p:sp>
      <p:sp>
        <p:nvSpPr>
          <p:cNvPr id="6" name="TextBox 5"/>
          <p:cNvSpPr txBox="1"/>
          <p:nvPr/>
        </p:nvSpPr>
        <p:spPr>
          <a:xfrm>
            <a:off x="1371600" y="4389120"/>
            <a:ext cx="9418320" cy="457200"/>
          </a:xfrm>
          <a:prstGeom prst="rect">
            <a:avLst/>
          </a:prstGeom>
          <a:noFill/>
        </p:spPr>
        <p:txBody>
          <a:bodyPr wrap="square">
            <a:spAutoFit/>
          </a:bodyPr>
          <a:lstStyle/>
          <a:p>
            <a:pPr algn="ctr">
              <a:spcAft>
                <a:spcPts val="500"/>
              </a:spcAft>
              <a:defRPr sz="1300" b="0">
                <a:solidFill>
                  <a:srgbClr val="718096"/>
                </a:solidFill>
                <a:latin typeface="Arial"/>
              </a:defRPr>
            </a:pPr>
            <a:r>
              <a:t>End-to-End Predictive Discovery &amp; Benchmarking Study</a:t>
            </a:r>
          </a:p>
        </p:txBody>
      </p:sp>
      <p:sp>
        <p:nvSpPr>
          <p:cNvPr id="7" name="Rectangle 6"/>
          <p:cNvSpPr/>
          <p:nvPr/>
        </p:nvSpPr>
        <p:spPr>
          <a:xfrm>
            <a:off x="731520" y="6400800"/>
            <a:ext cx="107442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10744200" cy="320040"/>
          </a:xfrm>
          <a:prstGeom prst="rect">
            <a:avLst/>
          </a:prstGeom>
          <a:noFill/>
        </p:spPr>
        <p:txBody>
          <a:bodyPr wrap="none">
            <a:spAutoFit/>
          </a:bodyPr>
          <a:lstStyle/>
          <a:p>
            <a:pPr algn="r">
              <a:defRPr sz="850">
                <a:solidFill>
                  <a:srgbClr val="718096"/>
                </a:solidFill>
                <a:latin typeface="Arial"/>
              </a:defRPr>
            </a:pPr>
            <a:r>
              <a:t>SmartInfluence | Predictive Discovery &amp; Benchmarking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